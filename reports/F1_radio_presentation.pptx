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5B6070"/>
                </a:solidFill>
                <a:latin typeface="Calibri"/>
              </a:rPr>
              <a:t>Clips per season (after cleaning)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C8102E"/>
              </a:solidFill>
            </c:spPr>
          </c:dPt>
          <c:dPt>
            <c:idx val="2"/>
            <c:spPr>
              <a:solidFill>
                <a:srgbClr val="C8102E"/>
              </a:solidFill>
            </c:spPr>
          </c:dPt>
          <c:dPt>
            <c:idx val="3"/>
            <c:spPr>
              <a:solidFill>
                <a:srgbClr val="C8102E"/>
              </a:solidFill>
            </c:spPr>
          </c:dPt>
          <c:dPt>
            <c:idx val="4"/>
            <c:spPr>
              <a:solidFill>
                <a:srgbClr val="C8102E"/>
              </a:solidFill>
            </c:spPr>
          </c:dPt>
          <c:dPt>
            <c:idx val="5"/>
            <c:spPr>
              <a:solidFill>
                <a:srgbClr val="C8102E"/>
              </a:solidFill>
            </c:spPr>
          </c:dPt>
          <c:dPt>
            <c:idx val="6"/>
            <c:spPr>
              <a:solidFill>
                <a:srgbClr val="C8102E"/>
              </a:solidFill>
            </c:spPr>
          </c:dPt>
          <c:dPt>
            <c:idx val="7"/>
            <c:spPr>
              <a:solidFill>
                <a:srgbClr val="EB6834"/>
              </a:solidFill>
            </c:spPr>
          </c:dPt>
          <c:cat>
            <c:strRef>
              <c:f>Sheet1!$A$2:$A$9</c:f>
              <c:strCach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2022*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1459</c:v>
                </c:pt>
                <c:pt idx="1">
                  <c:v>2036</c:v>
                </c:pt>
                <c:pt idx="2">
                  <c:v>2105</c:v>
                </c:pt>
                <c:pt idx="3">
                  <c:v>2792</c:v>
                </c:pt>
                <c:pt idx="4">
                  <c:v>0</c:v>
                </c:pt>
                <c:pt idx="5">
                  <c:v>2605</c:v>
                </c:pt>
                <c:pt idx="6">
                  <c:v>2704</c:v>
                </c:pt>
                <c:pt idx="7">
                  <c:v>669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5EA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81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5B6070"/>
                </a:solidFill>
                <a:latin typeface="Calibri"/>
              </a:rPr>
              <a:t>Claim types (driver utterances)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2A78D6"/>
              </a:solidFill>
            </c:spPr>
          </c:dPt>
          <c:dPt>
            <c:idx val="1"/>
            <c:spPr>
              <a:solidFill>
                <a:srgbClr val="2A78D6"/>
              </a:solidFill>
            </c:spPr>
          </c:dPt>
          <c:dPt>
            <c:idx val="2"/>
            <c:spPr>
              <a:solidFill>
                <a:srgbClr val="2A78D6"/>
              </a:solidFill>
            </c:spPr>
          </c:dPt>
          <c:dPt>
            <c:idx val="3"/>
            <c:spPr>
              <a:solidFill>
                <a:srgbClr val="2A78D6"/>
              </a:solidFill>
            </c:spPr>
          </c:dPt>
          <c:dPt>
            <c:idx val="4"/>
            <c:spPr>
              <a:solidFill>
                <a:srgbClr val="2A78D6"/>
              </a:solidFill>
            </c:spPr>
          </c:dPt>
          <c:dPt>
            <c:idx val="5"/>
            <c:spPr>
              <a:solidFill>
                <a:srgbClr val="A9ADB8"/>
              </a:solidFill>
            </c:spPr>
          </c:dPt>
          <c:dPt>
            <c:idx val="6"/>
            <c:spPr>
              <a:solidFill>
                <a:srgbClr val="A9ADB8"/>
              </a:solidFill>
            </c:spPr>
          </c:dPt>
          <c:cat>
            <c:strRef>
              <c:f>Sheet1!$A$2:$A$8</c:f>
              <c:strCache>
                <c:ptCount val="7"/>
                <c:pt idx="0">
                  <c:v>No claim</c:v>
                </c:pt>
                <c:pt idx="1">
                  <c:v>Tyres / grip</c:v>
                </c:pt>
                <c:pt idx="2">
                  <c:v>Can't be checked</c:v>
                </c:pt>
                <c:pt idx="3">
                  <c:v>Pace vs others</c:v>
                </c:pt>
                <c:pt idx="4">
                  <c:v>Incident</c:v>
                </c:pt>
                <c:pt idx="5">
                  <c:v>Traffic</c:v>
                </c:pt>
                <c:pt idx="6">
                  <c:v>Power / engine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123</c:v>
                </c:pt>
                <c:pt idx="1">
                  <c:v>49</c:v>
                </c:pt>
                <c:pt idx="2">
                  <c:v>45</c:v>
                </c:pt>
                <c:pt idx="3">
                  <c:v>32</c:v>
                </c:pt>
                <c:pt idx="4">
                  <c:v>32</c:v>
                </c:pt>
                <c:pt idx="5">
                  <c:v>25</c:v>
                </c:pt>
                <c:pt idx="6">
                  <c:v>11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3E5EA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81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5B6070"/>
                </a:solidFill>
                <a:latin typeface="Calibri"/>
              </a:rPr>
              <a:t>Word error rate (lower is better)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A9ADB8"/>
              </a:solidFill>
            </c:spPr>
          </c:dPt>
          <c:dPt>
            <c:idx val="1"/>
            <c:spPr>
              <a:solidFill>
                <a:srgbClr val="A9ADB8"/>
              </a:solidFill>
            </c:spPr>
          </c:dPt>
          <c:dPt>
            <c:idx val="2"/>
            <c:spPr>
              <a:solidFill>
                <a:srgbClr val="2A78D6"/>
              </a:solidFill>
            </c:spPr>
          </c:dPt>
          <c:cat>
            <c:strRef>
              <c:f>Sheet1!$A$2:$A$4</c:f>
              <c:strCache>
                <c:ptCount val="3"/>
                <c:pt idx="0">
                  <c:v>Dataset transcripts</c:v>
                </c:pt>
                <c:pt idx="1">
                  <c:v>Whisper large-v3</c:v>
                </c:pt>
                <c:pt idx="2">
                  <c:v>Whisper + F1 prompt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0.298</c:v>
                </c:pt>
                <c:pt idx="1">
                  <c:v>0.3015</c:v>
                </c:pt>
                <c:pt idx="2">
                  <c:v>0.2899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3E5EA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4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81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5B6070"/>
                </a:solidFill>
                <a:latin typeface="Calibri"/>
              </a:rPr>
              <a:t>Macro AUC-PR, 5 claim types (higher is better)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A9ADB8"/>
              </a:solidFill>
            </c:spPr>
          </c:dPt>
          <c:dPt>
            <c:idx val="1"/>
            <c:spPr>
              <a:solidFill>
                <a:srgbClr val="A9ADB8"/>
              </a:solidFill>
            </c:spPr>
          </c:dPt>
          <c:dPt>
            <c:idx val="2"/>
            <c:spPr>
              <a:solidFill>
                <a:srgbClr val="EB6834"/>
              </a:solidFill>
            </c:spPr>
          </c:dPt>
          <c:dPt>
            <c:idx val="3"/>
            <c:spPr>
              <a:solidFill>
                <a:srgbClr val="1BAF7A"/>
              </a:solidFill>
            </c:spPr>
          </c:dPt>
          <c:dPt>
            <c:idx val="4"/>
            <c:spPr>
              <a:solidFill>
                <a:srgbClr val="2A78D6"/>
              </a:solidFill>
            </c:spPr>
          </c:dPt>
          <c:cat>
            <c:strRef>
              <c:f>Sheet1!$A$2:$A$6</c:f>
              <c:strCache>
                <c:ptCount val="5"/>
                <c:pt idx="0">
                  <c:v>Majority class</c:v>
                </c:pt>
                <c:pt idx="1">
                  <c:v>Context only (no text)</c:v>
                </c:pt>
                <c:pt idx="2">
                  <c:v>Fine-tuned DeBERTa</c:v>
                </c:pt>
                <c:pt idx="3">
                  <c:v>TF-IDF</c:v>
                </c:pt>
                <c:pt idx="4">
                  <c:v>LLM zero-shot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0.1787</c:v>
                </c:pt>
                <c:pt idx="1">
                  <c:v>0.3203</c:v>
                </c:pt>
                <c:pt idx="2">
                  <c:v>0.4258</c:v>
                </c:pt>
                <c:pt idx="3">
                  <c:v>0.4656</c:v>
                </c:pt>
                <c:pt idx="4">
                  <c:v>0.6291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3E5EA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7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81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5B6070"/>
                </a:solidFill>
                <a:latin typeface="Calibri"/>
              </a:rPr>
              <a:t>Macro AUC-PR, calm / raised / shouting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A9ADB8"/>
              </a:solidFill>
            </c:spPr>
          </c:dPt>
          <c:dPt>
            <c:idx val="1"/>
            <c:spPr>
              <a:solidFill>
                <a:srgbClr val="A9ADB8"/>
              </a:solidFill>
            </c:spPr>
          </c:dPt>
          <c:dPt>
            <c:idx val="2"/>
            <c:spPr>
              <a:solidFill>
                <a:srgbClr val="1BAF7A"/>
              </a:solidFill>
            </c:spPr>
          </c:dPt>
          <c:dPt>
            <c:idx val="3"/>
            <c:spPr>
              <a:solidFill>
                <a:srgbClr val="A9ADB8"/>
              </a:solidFill>
            </c:spPr>
          </c:dPt>
          <c:dPt>
            <c:idx val="4"/>
            <c:spPr>
              <a:solidFill>
                <a:srgbClr val="EB6834"/>
              </a:solidFill>
            </c:spPr>
          </c:dPt>
          <c:dPt>
            <c:idx val="5"/>
            <c:spPr>
              <a:solidFill>
                <a:srgbClr val="C8102E"/>
              </a:solidFill>
            </c:spPr>
          </c:dPt>
          <c:cat>
            <c:strRef>
              <c:f>Sheet1!$A$2:$A$7</c:f>
              <c:strCache>
                <c:ptCount val="6"/>
                <c:pt idx="0">
                  <c:v>Majority class</c:v>
                </c:pt>
                <c:pt idx="1">
                  <c:v>Audio, frozen WavLM</c:v>
                </c:pt>
                <c:pt idx="2">
                  <c:v>Text, TF-IDF</c:v>
                </c:pt>
                <c:pt idx="3">
                  <c:v>Audio + text</c:v>
                </c:pt>
                <c:pt idx="4">
                  <c:v>Text, DeBERTa multi-task</c:v>
                </c:pt>
                <c:pt idx="5">
                  <c:v>Audio, WavLM fine-tuned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0.3091</c:v>
                </c:pt>
                <c:pt idx="1">
                  <c:v>0.4415</c:v>
                </c:pt>
                <c:pt idx="2">
                  <c:v>0.4872</c:v>
                </c:pt>
                <c:pt idx="3">
                  <c:v>0.4975</c:v>
                </c:pt>
                <c:pt idx="4">
                  <c:v>0.5442</c:v>
                </c:pt>
                <c:pt idx="5">
                  <c:v>0.5542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3E5EA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7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81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5B6070"/>
                </a:solidFill>
                <a:latin typeface="Calibri"/>
              </a:rPr>
              <a:t>Learned weight per WavLM layer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C8102E"/>
              </a:solidFill>
            </c:spPr>
          </c:dPt>
          <c:dPt>
            <c:idx val="2"/>
            <c:spPr>
              <a:solidFill>
                <a:srgbClr val="C8102E"/>
              </a:solidFill>
            </c:spPr>
          </c:dPt>
          <c:dPt>
            <c:idx val="3"/>
            <c:spPr>
              <a:solidFill>
                <a:srgbClr val="C8102E"/>
              </a:solidFill>
            </c:spPr>
          </c:dPt>
          <c:dPt>
            <c:idx val="4"/>
            <c:spPr>
              <a:solidFill>
                <a:srgbClr val="C8102E"/>
              </a:solidFill>
            </c:spPr>
          </c:dPt>
          <c:dPt>
            <c:idx val="5"/>
            <c:spPr>
              <a:solidFill>
                <a:srgbClr val="C8102E"/>
              </a:solidFill>
            </c:spPr>
          </c:dPt>
          <c:cat>
            <c:strRef>
              <c:f>Sheet1!$A$2:$A$7</c:f>
              <c:strCache>
                <c:ptCount val="6"/>
                <c:pt idx="0">
                  <c:v>L7</c:v>
                </c:pt>
                <c:pt idx="1">
                  <c:v>L8</c:v>
                </c:pt>
                <c:pt idx="2">
                  <c:v>L9</c:v>
                </c:pt>
                <c:pt idx="3">
                  <c:v>L10</c:v>
                </c:pt>
                <c:pt idx="4">
                  <c:v>L11</c:v>
                </c:pt>
                <c:pt idx="5">
                  <c:v>L12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0.1504</c:v>
                </c:pt>
                <c:pt idx="1">
                  <c:v>0.1525</c:v>
                </c:pt>
                <c:pt idx="2">
                  <c:v>0.1612</c:v>
                </c:pt>
                <c:pt idx="3">
                  <c:v>0.184</c:v>
                </c:pt>
                <c:pt idx="4">
                  <c:v>0.1826</c:v>
                </c:pt>
                <c:pt idx="5">
                  <c:v>0.1694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5EA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2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81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At the claim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Sheet1!$A$2:$A$5</c:f>
              <c:strCache>
                <c:ptCount val="4"/>
                <c:pt idx="0">
                  <c:v>Tyres / grip (n=45)</c:v>
                </c:pt>
                <c:pt idx="1">
                  <c:v>Traffic (n=24)</c:v>
                </c:pt>
                <c:pt idx="2">
                  <c:v>Incident (n=30)</c:v>
                </c:pt>
                <c:pt idx="3">
                  <c:v>Power / engine (n=11)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0.2381</c:v>
                </c:pt>
                <c:pt idx="1">
                  <c:v>0.6364</c:v>
                </c:pt>
                <c:pt idx="2">
                  <c:v>0.1071</c:v>
                </c:pt>
                <c:pt idx="3">
                  <c:v>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Car's usual rate</c:v>
                </c:pt>
              </c:strCache>
            </c:strRef>
          </c:tx>
          <c:spPr>
            <a:solidFill>
              <a:srgbClr val="A9ADB8"/>
            </a:solidFill>
          </c:spPr>
          <c:cat>
            <c:strRef>
              <c:f>Sheet1!$A$2:$A$5</c:f>
              <c:strCache>
                <c:ptCount val="4"/>
                <c:pt idx="0">
                  <c:v>Tyres / grip (n=45)</c:v>
                </c:pt>
                <c:pt idx="1">
                  <c:v>Traffic (n=24)</c:v>
                </c:pt>
                <c:pt idx="2">
                  <c:v>Incident (n=30)</c:v>
                </c:pt>
                <c:pt idx="3">
                  <c:v>Power / engine (n=11)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0.2266</c:v>
                </c:pt>
                <c:pt idx="1">
                  <c:v>0.4898</c:v>
                </c:pt>
                <c:pt idx="2">
                  <c:v>0.0547</c:v>
                </c:pt>
                <c:pt idx="3">
                  <c:v>0.1885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 laps before (placebo)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Sheet1!$A$2:$A$5</c:f>
              <c:strCache>
                <c:ptCount val="4"/>
                <c:pt idx="0">
                  <c:v>Tyres / grip (n=45)</c:v>
                </c:pt>
                <c:pt idx="1">
                  <c:v>Traffic (n=24)</c:v>
                </c:pt>
                <c:pt idx="2">
                  <c:v>Incident (n=30)</c:v>
                </c:pt>
                <c:pt idx="3">
                  <c:v>Power / engine (n=11)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0.2791</c:v>
                </c:pt>
                <c:pt idx="1">
                  <c:v>0.5</c:v>
                </c:pt>
                <c:pt idx="2">
                  <c:v>0.1</c:v>
                </c:pt>
                <c:pt idx="3">
                  <c:v>0.6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5EA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one-line idea: we listen to F1 radio, work out what drivers claim, and check whether the car's data backs them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dark card as the running example: one message, four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Calibri"/>
              </a:rPr>
              <a:t>NLP + DEEP LEARNING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51560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mbria"/>
              </a:rPr>
              <a:t>What drivers claim,</a:t>
            </a:r>
          </a:p>
          <a:p>
            <a:pPr algn="l"/>
            <a:r>
              <a:rPr sz="5400" b="1" i="0">
                <a:solidFill>
                  <a:srgbClr val="FFFFFF"/>
                </a:solidFill>
                <a:latin typeface="Cambria"/>
              </a:rPr>
              <a:t>and what the car says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 i="0">
                <a:solidFill>
                  <a:srgbClr val="A9ADB8"/>
                </a:solidFill>
                <a:latin typeface="Calibri"/>
              </a:rPr>
              <a:t>Understanding Formula 1 team radio with speech and language models, and checking it against the car's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A9ADB8"/>
                </a:solidFill>
                <a:latin typeface="Calibri"/>
              </a:rPr>
              <a:t>Presented by: 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070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16181D"/>
                </a:solidFill>
                <a:latin typeface="Cambria"/>
              </a:rPr>
              <a:t>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64208"/>
            <a:ext cx="8229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C8102E"/>
                </a:solidFill>
                <a:latin typeface="Cambr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64208"/>
            <a:ext cx="39319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000" b="0" i="0">
                <a:solidFill>
                  <a:srgbClr val="16181D"/>
                </a:solidFill>
                <a:latin typeface="Calibri"/>
              </a:rPr>
              <a:t>Problem statement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807208"/>
            <a:ext cx="8229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C8102E"/>
                </a:solidFill>
                <a:latin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807208"/>
            <a:ext cx="39319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000" b="0" i="0">
                <a:solidFill>
                  <a:srgbClr val="16181D"/>
                </a:solidFill>
                <a:latin typeface="Calibri"/>
              </a:rPr>
              <a:t>The dataset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950208"/>
            <a:ext cx="8229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C8102E"/>
                </a:solidFill>
                <a:latin typeface="Cambr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950208"/>
            <a:ext cx="39319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000" b="0" i="0">
                <a:solidFill>
                  <a:srgbClr val="16181D"/>
                </a:solidFill>
                <a:latin typeface="Calibri"/>
              </a:rPr>
              <a:t>Literature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8348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093208"/>
            <a:ext cx="8229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C8102E"/>
                </a:solidFill>
                <a:latin typeface="Cambria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093208"/>
            <a:ext cx="39319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000" b="0" i="0">
                <a:solidFill>
                  <a:srgbClr val="16181D"/>
                </a:solidFill>
                <a:latin typeface="Calibri"/>
              </a:rPr>
              <a:t>Methodology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55448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1664208"/>
            <a:ext cx="8229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C8102E"/>
                </a:solidFill>
                <a:latin typeface="Cambria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1664208"/>
            <a:ext cx="39319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000" b="0" i="0">
                <a:solidFill>
                  <a:srgbClr val="16181D"/>
                </a:solidFill>
                <a:latin typeface="Calibri"/>
              </a:rPr>
              <a:t>Problems faced, and how we solved them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69748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807208"/>
            <a:ext cx="8229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C8102E"/>
                </a:solidFill>
                <a:latin typeface="Cambria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2807208"/>
            <a:ext cx="39319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000" b="0" i="0">
                <a:solidFill>
                  <a:srgbClr val="16181D"/>
                </a:solidFill>
                <a:latin typeface="Calibri"/>
              </a:rPr>
              <a:t>Results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84048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950208"/>
            <a:ext cx="8229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C8102E"/>
                </a:solidFill>
                <a:latin typeface="Cambria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3950208"/>
            <a:ext cx="39319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000" b="0" i="0">
                <a:solidFill>
                  <a:srgbClr val="16181D"/>
                </a:solidFill>
                <a:latin typeface="Calibri"/>
              </a:rPr>
              <a:t>Limitations and future scope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98348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5093208"/>
            <a:ext cx="8229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C8102E"/>
                </a:solidFill>
                <a:latin typeface="Cambria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5093208"/>
            <a:ext cx="39319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000" b="0" i="0">
                <a:solidFill>
                  <a:srgbClr val="16181D"/>
                </a:solidFill>
                <a:latin typeface="Calibri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9ADB8"/>
                </a:solidFill>
                <a:latin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27432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0" b="1" i="0">
                <a:solidFill>
                  <a:srgbClr val="C8102E"/>
                </a:solidFill>
                <a:latin typeface="Cambria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96012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A9ADB8"/>
                </a:solidFill>
                <a:latin typeface="Calibri"/>
              </a:rPr>
              <a:t>What are we trying to understand, and why is it hard?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070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070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16181D"/>
                </a:solidFill>
                <a:latin typeface="Cambria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5B6070"/>
                </a:solidFill>
                <a:latin typeface="Calibri"/>
              </a:rPr>
              <a:t>F1 drivers talk to their engineers over the radio at 300 km/h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6035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16181D"/>
                </a:solidFill>
                <a:latin typeface="Calibri"/>
              </a:rPr>
              <a:t>During a race, drivers keep telling their engineers what's wrong: “no grip”, “he pushed me off”, “I've lost power”.</a:t>
            </a:r>
          </a:p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16181D"/>
                </a:solidFill>
                <a:latin typeface="Calibri"/>
              </a:rPr>
              <a:t>Teams and TV commentators take these at face value, but nobody really checks whether the car's own data agrees.</a:t>
            </a:r>
          </a:p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800" b="1">
                <a:solidFill>
                  <a:srgbClr val="16181D"/>
                </a:solidFill>
                <a:latin typeface="Calibri"/>
              </a:rPr>
              <a:t>Our goal </a:t>
            </a:r>
            <a:r>
              <a:rPr sz="1800" b="0">
                <a:solidFill>
                  <a:srgbClr val="16181D"/>
                </a:solidFill>
                <a:latin typeface="Calibri"/>
              </a:rPr>
              <a:t>was a system that listens to one radio message and answers four questions about it on its own.</a:t>
            </a:r>
          </a:p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800" b="1">
                <a:solidFill>
                  <a:srgbClr val="16181D"/>
                </a:solidFill>
                <a:latin typeface="Calibri"/>
              </a:rPr>
              <a:t>Why it matters: </a:t>
            </a:r>
            <a:r>
              <a:rPr sz="1800" b="0">
                <a:solidFill>
                  <a:srgbClr val="16181D"/>
                </a:solidFill>
                <a:latin typeface="Calibri"/>
              </a:rPr>
              <a:t>it's a rare case where spoken language can be checked against an independent, physical record.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737360"/>
            <a:ext cx="4663440" cy="420624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920240"/>
            <a:ext cx="4206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C8102E"/>
                </a:solidFill>
                <a:latin typeface="Calibri"/>
              </a:rPr>
              <a:t>ONE RADIO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2331720"/>
            <a:ext cx="4206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1">
                <a:solidFill>
                  <a:srgbClr val="FFFFFF"/>
                </a:solidFill>
                <a:latin typeface="Cambria"/>
              </a:rPr>
              <a:t>“No grip at the rear!”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3291840"/>
            <a:ext cx="20116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Who said 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3291840"/>
            <a:ext cx="2286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A9ADB8"/>
                </a:solidFill>
                <a:latin typeface="Calibri"/>
              </a:rPr>
              <a:t>the driver, not the engineer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3931920"/>
            <a:ext cx="20116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What is claimed?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931920"/>
            <a:ext cx="2286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A9ADB8"/>
                </a:solidFill>
                <a:latin typeface="Calibri"/>
              </a:rPr>
              <a:t>tyre grip / degradation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4572000"/>
            <a:ext cx="20116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How worked up?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4572000"/>
            <a:ext cx="2286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A9ADB8"/>
                </a:solidFill>
                <a:latin typeface="Calibri"/>
              </a:rPr>
              <a:t>raised voice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5212079"/>
            <a:ext cx="20116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Does the car agree?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5212079"/>
            <a:ext cx="2286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A9ADB8"/>
                </a:solidFill>
                <a:latin typeface="Calibri"/>
              </a:rPr>
              <a:t>were lap times dropping?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070"/>
                </a:solidFill>
                <a:latin typeface="Calibr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070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16181D"/>
                </a:solidFill>
                <a:latin typeface="Cambria"/>
              </a:rPr>
              <a:t>Four research questions, and why each is hard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606040" cy="41148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C8102E"/>
                </a:solidFill>
                <a:latin typeface="Calibri"/>
              </a:rPr>
              <a:t>T1  Claim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22860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16181D"/>
                </a:solidFill>
                <a:latin typeface="Calibri"/>
              </a:rPr>
              <a:t>What is the driver complaining about: tyres, traffic, pace, an incident, the engine?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6908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5B6070"/>
                </a:solidFill>
                <a:latin typeface="Calibri"/>
              </a:rPr>
              <a:t>Why it's hard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22860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5B6070"/>
                </a:solidFill>
                <a:latin typeface="Calibri"/>
              </a:rPr>
              <a:t>The messages are short, noisy and full of jargon, and there were almost no labels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54480"/>
            <a:ext cx="2606040" cy="41148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169164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C8102E"/>
                </a:solidFill>
                <a:latin typeface="Calibri"/>
              </a:rPr>
              <a:t>T2  Telemetry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240280"/>
            <a:ext cx="22860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16181D"/>
                </a:solidFill>
                <a:latin typeface="Calibri"/>
              </a:rPr>
              <a:t>Does the car's own sensor data back up what the driver said?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406908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5B6070"/>
                </a:solidFill>
                <a:latin typeface="Calibri"/>
              </a:rPr>
              <a:t>Why it's hard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4434840"/>
            <a:ext cx="22860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5B6070"/>
                </a:solidFill>
                <a:latin typeface="Calibri"/>
              </a:rPr>
              <a:t>Public telemetry misses many sensors, and TV picks the dramatic moments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54480"/>
            <a:ext cx="2606040" cy="41148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69164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C8102E"/>
                </a:solidFill>
                <a:latin typeface="Calibri"/>
              </a:rPr>
              <a:t>T3  Arousal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240280"/>
            <a:ext cx="22860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16181D"/>
                </a:solidFill>
                <a:latin typeface="Calibri"/>
              </a:rPr>
              <a:t>How worked up does the driver sound, from the words and from the voice?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406908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5B6070"/>
                </a:solidFill>
                <a:latin typeface="Calibri"/>
              </a:rPr>
              <a:t>Why it's hard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4434840"/>
            <a:ext cx="22860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5B6070"/>
                </a:solidFill>
                <a:latin typeface="Calibri"/>
              </a:rPr>
              <a:t>Engine noise, radio compression and g-forces all change how a voice sounds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1554480"/>
            <a:ext cx="2606040" cy="41148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0576" y="169164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C8102E"/>
                </a:solidFill>
                <a:latin typeface="Calibri"/>
              </a:rPr>
              <a:t>T4  Consequences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2240280"/>
            <a:ext cx="22860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16181D"/>
                </a:solidFill>
                <a:latin typeface="Calibri"/>
              </a:rPr>
              <a:t>Does a worked-up driver then go faster or slower?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406908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5B6070"/>
                </a:solidFill>
                <a:latin typeface="Calibri"/>
              </a:rPr>
              <a:t>Why it's hard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4434840"/>
            <a:ext cx="22860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5B6070"/>
                </a:solidFill>
                <a:latin typeface="Calibri"/>
              </a:rPr>
              <a:t>Lap times swing by about 0.7 s anyway, so any effect may be tiny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5B6070"/>
                </a:solidFill>
                <a:latin typeface="Calibri"/>
              </a:rPr>
              <a:t>And underneath all four, every clip mixes the driver's and the engineer's voices, with nothing to say who's talking.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9ADB8"/>
                </a:solidFill>
                <a:latin typeface="Calibr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27432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0" b="1" i="0">
                <a:solidFill>
                  <a:srgbClr val="C8102E"/>
                </a:solidFill>
                <a:latin typeface="Cambria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The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96012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A9ADB8"/>
                </a:solidFill>
                <a:latin typeface="Calibri"/>
              </a:rPr>
              <a:t>Real broadcast radio, joined to real car telemetry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070"/>
                </a:solidFill>
                <a:latin typeface="Calibr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070"/>
                </a:solidFill>
                <a:latin typeface="Calibri"/>
              </a:rPr>
              <a:t>THE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16181D"/>
                </a:solidFill>
                <a:latin typeface="Cambria"/>
              </a:rPr>
              <a:t>Radio data: F1 Team Radio (Hugging Face)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5B6070"/>
                </a:solidFill>
                <a:latin typeface="Calibri"/>
              </a:rPr>
              <a:t>Broadcast clips with audio and transcripts, 2018–2025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2788920" cy="1261872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09928"/>
            <a:ext cx="242316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C8102E"/>
                </a:solidFill>
                <a:latin typeface="Cambria"/>
              </a:rPr>
              <a:t>14,681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2423160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5B6070"/>
                </a:solidFill>
                <a:latin typeface="Calibri"/>
              </a:rPr>
              <a:t>radio clips in the dataset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00200"/>
            <a:ext cx="2788920" cy="1261872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709928"/>
            <a:ext cx="242316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C8102E"/>
                </a:solidFill>
                <a:latin typeface="Cambria"/>
              </a:rPr>
              <a:t>44 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68880"/>
            <a:ext cx="2423160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5B6070"/>
                </a:solidFill>
                <a:latin typeface="Calibri"/>
              </a:rPr>
              <a:t>of audio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71800"/>
            <a:ext cx="2788920" cy="1261872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81528"/>
            <a:ext cx="242316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C8102E"/>
                </a:solidFill>
                <a:latin typeface="Cambria"/>
              </a:rPr>
              <a:t>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2423160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5B6070"/>
                </a:solidFill>
                <a:latin typeface="Calibri"/>
              </a:rPr>
              <a:t>drivers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971800"/>
            <a:ext cx="2788920" cy="1261872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3081528"/>
            <a:ext cx="242316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C8102E"/>
                </a:solidFill>
                <a:latin typeface="Cambria"/>
              </a:rPr>
              <a:t>149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840480"/>
            <a:ext cx="2423160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5B6070"/>
                </a:solidFill>
                <a:latin typeface="Calibri"/>
              </a:rPr>
              <a:t>Grands Prix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34840"/>
            <a:ext cx="5760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16181D"/>
                </a:solidFill>
                <a:latin typeface="Calibri"/>
              </a:rPr>
              <a:t>Every clip comes with its audio, a machine transcript, the driver, the race and the time it aired.</a:t>
            </a:r>
          </a:p>
          <a:p>
            <a:pPr marL="256032" indent="-256032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16181D"/>
                </a:solidFill>
                <a:latin typeface="Calibri"/>
              </a:rPr>
              <a:t>A typical clip lasts about 8 seconds, and many contain both driver and engineer.</a:t>
            </a:r>
          </a:p>
          <a:p>
            <a:pPr marL="256032" indent="-256032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16181D"/>
                </a:solidFill>
                <a:latin typeface="Calibri"/>
              </a:rPr>
              <a:t>2022 is missing completely and 2025 is thin, so our held-out test season is small.</a:t>
            </a:r>
          </a:p>
          <a:p>
            <a:pPr marL="256032" indent="-256032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16181D"/>
                </a:solidFill>
                <a:latin typeface="Calibri"/>
              </a:rPr>
              <a:t>It's listed as CC BY 4.0, but it's broadcast audio, so we used it for coursework only.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6492240" y="1554480"/>
          <a:ext cx="52120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492240" y="6035040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0">
                <a:solidFill>
                  <a:srgbClr val="5B6070"/>
                </a:solidFill>
                <a:latin typeface="Calibri"/>
              </a:rPr>
              <a:t>*2022 missing from the source; orange = 2025, the test season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070"/>
                </a:solidFill>
                <a:latin typeface="Calibri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070"/>
                </a:solidFill>
                <a:latin typeface="Calibri"/>
              </a:rPr>
              <a:t>THE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16181D"/>
                </a:solidFill>
                <a:latin typeface="Cambria"/>
              </a:rPr>
              <a:t>Inside one clip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5B6070"/>
                </a:solidFill>
                <a:latin typeface="Calibri"/>
              </a:rPr>
              <a:t>What the raw data looks like, and why it's messy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852160" cy="4389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5B6070"/>
                </a:solidFill>
                <a:latin typeface="Calibri"/>
              </a:rPr>
              <a:t>A real transcript, exactly as stored (2020, Albon's channel)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53949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 i="1">
                <a:solidFill>
                  <a:srgbClr val="16181D"/>
                </a:solidFill>
                <a:latin typeface="Calibri"/>
              </a:rPr>
              <a:t>“The drink system is leaking a lot. Copy. We'll have a look on the grid. Copy. Yeah, I'm getting soaked here. Yeah, copy. Just make sure we have a spare balaclava.”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663440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754880"/>
            <a:ext cx="50292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C8102E"/>
                </a:solidFill>
                <a:latin typeface="Calibri"/>
              </a:rPr>
              <a:t>Who said which sentence? </a:t>
            </a:r>
            <a:r>
              <a:rPr sz="1600" b="0" i="0">
                <a:solidFill>
                  <a:srgbClr val="16181D"/>
                </a:solidFill>
                <a:latin typeface="Calibri"/>
              </a:rPr>
              <a:t>The file doesn't say. Our pipeline has to work it out from the voices.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766560" y="1645920"/>
          <a:ext cx="48463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0175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73152" marR="73152" marT="36576" marB="36576" anchor="ctr">
                    <a:solidFill>
                      <a:srgbClr val="1618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36576" marB="36576" anchor="ctr">
                    <a:solidFill>
                      <a:srgbClr val="16181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driver_id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whose radio channel (not who speaks)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race_id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which Grand Prix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message_timestamp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UTC time the clip aired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audio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MP3, 44–48 kHz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transcription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machine ASR (with errors)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766560" y="43434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16181D"/>
                </a:solidFill>
                <a:latin typeface="Calibri"/>
              </a:rPr>
              <a:t>Two people share one recording, and nothing marks where one stops and the other starts.</a:t>
            </a:r>
          </a:p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16181D"/>
                </a:solidFill>
                <a:latin typeface="Calibri"/>
              </a:rPr>
              <a:t>The machine transcript mangles jargon: “SuperSalt” instead of supersoft.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070"/>
                </a:solidFill>
                <a:latin typeface="Calibri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070"/>
                </a:solidFill>
                <a:latin typeface="Calibri"/>
              </a:rPr>
              <a:t>THE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16181D"/>
                </a:solidFill>
                <a:latin typeface="Cambria"/>
              </a:rPr>
              <a:t>Telemetry: what the car tells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5B6070"/>
                </a:solidFill>
                <a:latin typeface="Calibri"/>
              </a:rPr>
              <a:t>Fetched with FastF1 and joined to each radio clip by car number and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66160" cy="30175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73936"/>
            <a:ext cx="3236976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16181D"/>
                </a:solidFill>
                <a:latin typeface="Calibri"/>
              </a:rPr>
              <a:t>Available (public)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94560"/>
            <a:ext cx="3236976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5B6070"/>
                </a:solidFill>
                <a:latin typeface="Calibri"/>
              </a:rPr>
              <a:t>Speed, throttle, brake on/off, RPM, gear, DRS (~3.7 Hz)
Lap and sector times, gaps, positions
Tyre compound and age, pit stops
Race-control messages, weather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566160" cy="30175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773936"/>
            <a:ext cx="3236976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16181D"/>
                </a:solidFill>
                <a:latin typeface="Calibri"/>
              </a:rPr>
              <a:t>Not available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194560"/>
            <a:ext cx="3236976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5B6070"/>
                </a:solidFill>
                <a:latin typeface="Calibri"/>
              </a:rPr>
              <a:t>Brake pressure or temperature
Tyre temperatures
Steering angle, ride height
Fuel load
→ claims about these can't be checked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645920"/>
            <a:ext cx="3429000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9" y="1755648"/>
            <a:ext cx="306324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C8102E"/>
                </a:solidFill>
                <a:latin typeface="Cambria"/>
              </a:rPr>
              <a:t>148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2514600"/>
            <a:ext cx="3063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5B6070"/>
                </a:solidFill>
                <a:latin typeface="Calibri"/>
              </a:rPr>
              <a:t>of 149 races with telemetry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3108960"/>
            <a:ext cx="3429000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3218688"/>
            <a:ext cx="306324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C8102E"/>
                </a:solidFill>
                <a:latin typeface="Cambria"/>
              </a:rPr>
              <a:t>10,229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3977640"/>
            <a:ext cx="3063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5B6070"/>
                </a:solidFill>
                <a:latin typeface="Calibri"/>
              </a:rPr>
              <a:t>radio clips matched to a racing lap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4572000"/>
            <a:ext cx="3429000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59" y="4681728"/>
            <a:ext cx="306324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C8102E"/>
                </a:solidFill>
                <a:latin typeface="Cambria"/>
              </a:rPr>
              <a:t>139,995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59" y="5440680"/>
            <a:ext cx="3063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5B6070"/>
                </a:solidFill>
                <a:latin typeface="Calibri"/>
              </a:rPr>
              <a:t>clean laps for the lap-time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9204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16181D"/>
                </a:solidFill>
                <a:latin typeface="Calibri"/>
              </a:rPr>
              <a:t>We also built a lap-time model that predicts how fast each lap should be from fuel, tyre age, tyre type and traffic, so we can tell when a driver was genuinely slow.</a:t>
            </a:r>
          </a:p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16181D"/>
                </a:solidFill>
                <a:latin typeface="Calibri"/>
              </a:rPr>
              <a:t>On laps it hadn't seen, it's typically off by 0.70 s, compared with 1.12 s for a simple per-driver average.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070"/>
                </a:solidFill>
                <a:latin typeface="Calibr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070"/>
                </a:solidFill>
                <a:latin typeface="Calibri"/>
              </a:rPr>
              <a:t>THE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16181D"/>
                </a:solidFill>
                <a:latin typeface="Cambria"/>
              </a:rPr>
              <a:t>Our own labelled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5B6070"/>
                </a:solidFill>
                <a:latin typeface="Calibri"/>
              </a:rPr>
              <a:t>Hand-labelled by us, because no labels for these tasks existed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291840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55648"/>
            <a:ext cx="292608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C8102E"/>
                </a:solidFill>
                <a:latin typeface="Cambria"/>
              </a:rPr>
              <a:t>380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29260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5B6070"/>
                </a:solidFill>
                <a:latin typeface="Calibri"/>
              </a:rPr>
              <a:t>turns labelled driver vs engineer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08960"/>
            <a:ext cx="3291840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18688"/>
            <a:ext cx="292608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C8102E"/>
                </a:solidFill>
                <a:latin typeface="Cambria"/>
              </a:rPr>
              <a:t>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77640"/>
            <a:ext cx="29260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5B6070"/>
                </a:solidFill>
                <a:latin typeface="Calibri"/>
              </a:rPr>
              <a:t>clips hand-transcribed (for WER)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72000"/>
            <a:ext cx="3291840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681728"/>
            <a:ext cx="292608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C8102E"/>
                </a:solidFill>
                <a:latin typeface="Cambria"/>
              </a:rPr>
              <a:t>450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40680"/>
            <a:ext cx="29260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5B6070"/>
                </a:solidFill>
                <a:latin typeface="Calibri"/>
              </a:rPr>
              <a:t>utterances labelled: claim type + arousal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114800" y="1554480"/>
          <a:ext cx="40233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8412480" y="173736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16181D"/>
                </a:solidFill>
                <a:latin typeface="Calibri"/>
              </a:rPr>
              <a:t>We defined the categories by what a car sensor could actually check.</a:t>
            </a:r>
          </a:p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16181D"/>
                </a:solidFill>
                <a:latin typeface="Calibri"/>
              </a:rPr>
              <a:t>133 of the 450 turned out to be the engineer, which shows how much the speaker step matters.</a:t>
            </a:r>
          </a:p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16181D"/>
                </a:solidFill>
                <a:latin typeface="Calibri"/>
              </a:rPr>
              <a:t>Grey classes have fewer than 30 examples, too few to learn from, so we left them out.</a:t>
            </a:r>
          </a:p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16181D"/>
                </a:solidFill>
                <a:latin typeface="Calibri"/>
              </a:rPr>
              <a:t>When we re-labelled repeated items, we agreed with ourselves 90% of the 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9ADB8"/>
                </a:solidFill>
                <a:latin typeface="Calibr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27432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0" b="1" i="0">
                <a:solidFill>
                  <a:srgbClr val="C8102E"/>
                </a:solidFill>
                <a:latin typeface="Cambria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96012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A9ADB8"/>
                </a:solidFill>
                <a:latin typeface="Calibri"/>
              </a:rPr>
              <a:t>What already exists, what we borrowed, and the gap we fill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070"/>
                </a:solidFill>
                <a:latin typeface="Calibr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070"/>
                </a:solidFill>
                <a:latin typeface="Calibri"/>
              </a:rP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16181D"/>
                </a:solidFill>
                <a:latin typeface="Cambria"/>
              </a:rPr>
              <a:t>Related work: speech and language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017520"/>
                <a:gridCol w="2926080"/>
                <a:gridCol w="3200400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marL="73152" marR="73152" marT="36576" marB="36576" anchor="ctr">
                    <a:solidFill>
                      <a:srgbClr val="1618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Key work</a:t>
                      </a:r>
                    </a:p>
                  </a:txBody>
                  <a:tcPr marL="73152" marR="73152" marT="36576" marB="36576" anchor="ctr">
                    <a:solidFill>
                      <a:srgbClr val="1618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gives us</a:t>
                      </a:r>
                    </a:p>
                  </a:txBody>
                  <a:tcPr marL="73152" marR="73152" marT="36576" marB="36576" anchor="ctr">
                    <a:solidFill>
                      <a:srgbClr val="1618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Gap for our problem</a:t>
                      </a:r>
                    </a:p>
                  </a:txBody>
                  <a:tcPr marL="73152" marR="73152" marT="36576" marB="36576" anchor="ctr">
                    <a:solidFill>
                      <a:srgbClr val="16181D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Speech recognition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Whisper (Radford et al., 2023)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Transcribes noisy speech well, and can be nudged with a prompt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Never tested on compressed race radio full of jargon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Speaker diarization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pyannote (Bredin, 2023); WeSpeaker (Wang et al., 2023)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Works out who spoke when, and fingerprints each voice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Tells voices apart, but not which one is the driver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Text encoders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DeBERTa-v3 (He et al., 2023)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A strong language model we can fine-tune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Usually needs thousands of labels; we had about 300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Large language models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GPT-3 few-shot (Brown et al., 2020); Qwen2.5 (2024)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Can classify from written instructions, without training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Unclear whether that beats fine-tuning on tiny, specialised data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Speech representations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WavLM (Chen et al., 2022); SUPERB layer weighting (Yang et al., 2021)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Rich audio features, and a way to choose which layers to use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Not yet tried for arousal in noisy radio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070"/>
                </a:solidFill>
                <a:latin typeface="Calibr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070"/>
                </a:solidFill>
                <a:latin typeface="Calibri"/>
              </a:rP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16181D"/>
                </a:solidFill>
                <a:latin typeface="Cambria"/>
              </a:rPr>
              <a:t>Related work: verification, fusion and method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694944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26080"/>
                <a:gridCol w="219456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marL="73152" marR="73152" marT="36576" marB="36576" anchor="ctr">
                    <a:solidFill>
                      <a:srgbClr val="1618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Key work</a:t>
                      </a:r>
                    </a:p>
                  </a:txBody>
                  <a:tcPr marL="73152" marR="73152" marT="36576" marB="36576" anchor="ctr">
                    <a:solidFill>
                      <a:srgbClr val="1618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Our take</a:t>
                      </a:r>
                    </a:p>
                  </a:txBody>
                  <a:tcPr marL="73152" marR="73152" marT="36576" marB="36576" anchor="ctr">
                    <a:solidFill>
                      <a:srgbClr val="16181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Claim verification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FEVER (Thorne et al., 2018)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Our evidence is sensor data, not text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Multimodal fusion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Constrained fusion (Lee et al., 2026)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We test gated fusion against simple joining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Emotion / arousal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Circumplex of affect (Russell, 1980)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Why we say “arousal”, not “stress”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Research practice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Pre-registration (Nosek et al., 2018); p-hacking (Simmons et al., 2011)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We fixed our decisions before seeing results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F1 data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FastF1; OpenF1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Where our car data comes from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63840" y="1371600"/>
            <a:ext cx="3749039" cy="443484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1554480"/>
            <a:ext cx="33832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C8102E"/>
                </a:solidFill>
                <a:latin typeface="Calibri"/>
              </a:rPr>
              <a:t>THE GAP WE FILL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2011680"/>
            <a:ext cx="3383280" cy="3657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Most fact-checking research checks written claims against written evidence.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We check spoken claims against a physical record, the car's telemetry, in an area with almost no labels.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And we test whether any apparent agreement survives a placebo control.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9ADB8"/>
                </a:solidFill>
                <a:latin typeface="Calibr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27432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0" b="1" i="0">
                <a:solidFill>
                  <a:srgbClr val="C8102E"/>
                </a:solidFill>
                <a:latin typeface="Cambria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96012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A9ADB8"/>
                </a:solidFill>
                <a:latin typeface="Calibri"/>
              </a:rPr>
              <a:t>How we tried to solve the problem: a six-stage pipeline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070"/>
                </a:solidFill>
                <a:latin typeface="Calibr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070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16181D"/>
                </a:solidFill>
                <a:latin typeface="Cambria"/>
              </a:rPr>
              <a:t>The pipeline at a glance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691640" cy="182880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011680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 i="0">
                <a:solidFill>
                  <a:srgbClr val="C8102E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514600"/>
            <a:ext cx="1472184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Radio audio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108960"/>
            <a:ext cx="1472184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A9ADB8"/>
                </a:solidFill>
                <a:latin typeface="Calibri"/>
              </a:rPr>
              <a:t>14,370 clips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834640"/>
            <a:ext cx="146304" cy="0"/>
          </a:xfrm>
          <a:prstGeom prst="line">
            <a:avLst/>
          </a:prstGeom>
          <a:ln w="25400">
            <a:solidFill>
              <a:srgbClr val="5B60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23160" y="1920240"/>
            <a:ext cx="1691640" cy="18288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32888" y="2011680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 i="0">
                <a:solidFill>
                  <a:srgbClr val="C8102E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2888" y="2514600"/>
            <a:ext cx="1472184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16181D"/>
                </a:solidFill>
                <a:latin typeface="Calibri"/>
              </a:rPr>
              <a:t>Who speaks?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2888" y="3108960"/>
            <a:ext cx="1472184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5B6070"/>
                </a:solidFill>
                <a:latin typeface="Calibri"/>
              </a:rPr>
              <a:t>pyannote + voice clustering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33088" y="2834640"/>
            <a:ext cx="146304" cy="0"/>
          </a:xfrm>
          <a:prstGeom prst="line">
            <a:avLst/>
          </a:prstGeom>
          <a:ln w="25400">
            <a:solidFill>
              <a:srgbClr val="5B60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7680" y="1920240"/>
            <a:ext cx="1691640" cy="18288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8" y="2011680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 i="0">
                <a:solidFill>
                  <a:srgbClr val="C8102E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2514600"/>
            <a:ext cx="1472184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16181D"/>
                </a:solidFill>
                <a:latin typeface="Calibri"/>
              </a:rPr>
              <a:t>Speech → 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3108960"/>
            <a:ext cx="1472184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5B6070"/>
                </a:solidFill>
                <a:latin typeface="Calibri"/>
              </a:rPr>
              <a:t>Whisper large-v3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07608" y="2834640"/>
            <a:ext cx="146304" cy="0"/>
          </a:xfrm>
          <a:prstGeom prst="line">
            <a:avLst/>
          </a:prstGeom>
          <a:ln w="25400">
            <a:solidFill>
              <a:srgbClr val="5B60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72200" y="1920240"/>
            <a:ext cx="1691640" cy="18288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1928" y="2011680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 i="0">
                <a:solidFill>
                  <a:srgbClr val="C8102E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2514600"/>
            <a:ext cx="1472184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16181D"/>
                </a:solidFill>
                <a:latin typeface="Calibri"/>
              </a:rPr>
              <a:t>What is claimed?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1928" y="3108960"/>
            <a:ext cx="1472184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5B6070"/>
                </a:solidFill>
                <a:latin typeface="Calibri"/>
              </a:rPr>
              <a:t>DeBERTa · TF-IDF · LLM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82128" y="2834640"/>
            <a:ext cx="146304" cy="0"/>
          </a:xfrm>
          <a:prstGeom prst="line">
            <a:avLst/>
          </a:prstGeom>
          <a:ln w="25400">
            <a:solidFill>
              <a:srgbClr val="5B60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046720" y="1920240"/>
            <a:ext cx="1691640" cy="18288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56448" y="2011680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 i="0">
                <a:solidFill>
                  <a:srgbClr val="C8102E"/>
                </a:solidFill>
                <a:latin typeface="Cambri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2514600"/>
            <a:ext cx="1472184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16181D"/>
                </a:solidFill>
                <a:latin typeface="Calibri"/>
              </a:rPr>
              <a:t>How aroused?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3108960"/>
            <a:ext cx="1472184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5B6070"/>
                </a:solidFill>
                <a:latin typeface="Calibri"/>
              </a:rPr>
              <a:t>WavLM fine-tuned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756648" y="2834640"/>
            <a:ext cx="146304" cy="0"/>
          </a:xfrm>
          <a:prstGeom prst="line">
            <a:avLst/>
          </a:prstGeom>
          <a:ln w="25400">
            <a:solidFill>
              <a:srgbClr val="5B60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921240" y="1920240"/>
            <a:ext cx="1691640" cy="18288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30968" y="2011680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 i="0">
                <a:solidFill>
                  <a:srgbClr val="C8102E"/>
                </a:solidFill>
                <a:latin typeface="Cambria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30968" y="2514600"/>
            <a:ext cx="1472184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16181D"/>
                </a:solidFill>
                <a:latin typeface="Calibri"/>
              </a:rPr>
              <a:t>Car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30968" y="3108960"/>
            <a:ext cx="1472184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5B6070"/>
                </a:solidFill>
                <a:latin typeface="Calibri"/>
              </a:rPr>
              <a:t>telemetry rules + neural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20624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16181D"/>
                </a:solidFill>
                <a:latin typeface="Calibri"/>
              </a:rPr>
              <a:t>Before running each stage, we wrote down what would count as success, for example speaker accuracy of at least 85%.</a:t>
            </a:r>
          </a:p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16181D"/>
                </a:solidFill>
                <a:latin typeface="Calibri"/>
              </a:rPr>
              <a:t>Every model is compared with simple baselines: guessing the most common class, a model that never reads the words, and pure chance.</a:t>
            </a:r>
          </a:p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16181D"/>
                </a:solidFill>
                <a:latin typeface="Calibri"/>
              </a:rPr>
              <a:t>We always keep whole races together, so the same race never shows up in both training and testing.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070"/>
                </a:solidFill>
                <a:latin typeface="Calibri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070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16181D"/>
                </a:solidFill>
                <a:latin typeface="Cambria"/>
              </a:rPr>
              <a:t>Speech stages: who spoke, and what they said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611880" cy="25146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45336"/>
            <a:ext cx="3282696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16181D"/>
                </a:solidFill>
                <a:latin typeface="Calibri"/>
              </a:rPr>
              <a:t>1. Diarization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65960"/>
            <a:ext cx="3282696" cy="1874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5B6070"/>
                </a:solidFill>
                <a:latin typeface="Calibri"/>
              </a:rPr>
              <a:t>pyannote splits each clip into speaker turns, giving 29,134 turns across the 14,370 clips.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17320"/>
            <a:ext cx="3611880" cy="25146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1545336"/>
            <a:ext cx="3282696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16181D"/>
                </a:solidFill>
                <a:latin typeface="Calibri"/>
              </a:rPr>
              <a:t>2. Driver or engineer?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2272" y="1965960"/>
            <a:ext cx="3282696" cy="1874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5B6070"/>
                </a:solidFill>
                <a:latin typeface="Calibri"/>
              </a:rPr>
              <a:t>We group similar voices on each driver's channel, then name each group from what it says: engineers say “box”, drivers say “my tyres”.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611880" cy="25146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545336"/>
            <a:ext cx="3282696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16181D"/>
                </a:solidFill>
                <a:latin typeface="Calibri"/>
              </a:rPr>
              <a:t>3. Speech to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1965960"/>
            <a:ext cx="3282696" cy="1874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5B6070"/>
                </a:solidFill>
                <a:latin typeface="Calibri"/>
              </a:rPr>
              <a:t>Whisper large-v3 writes down the words with their timings. We nudged it with a prompt of driver names and F1 jargon, and measured the errors.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5B6070"/>
                </a:solidFill>
                <a:latin typeface="Calibri"/>
              </a:rPr>
              <a:t>Our pipeline's actual output for the clip on slide 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3634" y="4480560"/>
            <a:ext cx="4007746" cy="457200"/>
          </a:xfrm>
          <a:prstGeom prst="roundRect">
            <a:avLst>
              <a:gd name="adj" fmla="val 8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26786" y="4498848"/>
            <a:ext cx="3861442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Driver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3634" y="4983480"/>
            <a:ext cx="4007746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1">
                <a:solidFill>
                  <a:srgbClr val="5B6070"/>
                </a:solidFill>
                <a:latin typeface="Calibri"/>
              </a:rPr>
              <a:t>“drink system is leaking a lot copy we'll have a look on the grid copy”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05133" y="4480560"/>
            <a:ext cx="1386317" cy="457200"/>
          </a:xfrm>
          <a:prstGeom prst="roundRect">
            <a:avLst>
              <a:gd name="adj" fmla="val 8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78285" y="4498848"/>
            <a:ext cx="1240013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Driver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5133" y="4983480"/>
            <a:ext cx="1386317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1">
                <a:solidFill>
                  <a:srgbClr val="5B6070"/>
                </a:solidFill>
                <a:latin typeface="Calibri"/>
              </a:rPr>
              <a:t>“i'm getting soaked here”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77113" y="4480560"/>
            <a:ext cx="1664074" cy="457200"/>
          </a:xfrm>
          <a:prstGeom prst="roundRect">
            <a:avLst>
              <a:gd name="adj" fmla="val 8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0265" y="4498848"/>
            <a:ext cx="151777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Driver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7113" y="4983480"/>
            <a:ext cx="1664074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1">
                <a:solidFill>
                  <a:srgbClr val="5B6070"/>
                </a:solidFill>
                <a:latin typeface="Calibri"/>
              </a:rPr>
              <a:t>“just make sure we have a spare balaclava”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Calibri"/>
              </a:rPr>
              <a:t>Every turn was called “driver”,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but “spare balaclava” is clearly the engineer, and the first turn merges both voices. This is why speaker accuracy is only 67%.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070"/>
                </a:solidFill>
                <a:latin typeface="Calibri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070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16181D"/>
                </a:solidFill>
                <a:latin typeface="Cambria"/>
              </a:rPr>
              <a:t>Language and voice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577840" cy="4572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16181D"/>
                </a:solidFill>
                <a:latin typeface="Calibri"/>
              </a:rPr>
              <a:t>Claim type: three ways to use a language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94560"/>
            <a:ext cx="201168" cy="82296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194560"/>
            <a:ext cx="47548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16181D"/>
                </a:solidFill>
                <a:latin typeface="Calibri"/>
              </a:rPr>
              <a:t>TF-IDF + logistic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78608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5B6070"/>
                </a:solidFill>
                <a:latin typeface="Calibri"/>
              </a:rPr>
              <a:t>counts the words: our simple baseline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383280"/>
            <a:ext cx="201168" cy="8229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383280"/>
            <a:ext cx="47548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16181D"/>
                </a:solidFill>
                <a:latin typeface="Calibri"/>
              </a:rPr>
              <a:t>DeBERTa-v3, fully fine-tuned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767328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5B6070"/>
                </a:solidFill>
                <a:latin typeface="Calibri"/>
              </a:rPr>
              <a:t>one shared model with two outputs: claim type and arousal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572000"/>
            <a:ext cx="201168" cy="8229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572000"/>
            <a:ext cx="47548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16181D"/>
                </a:solidFill>
                <a:latin typeface="Calibri"/>
              </a:rPr>
              <a:t>LLM zero-shot (Qwen2.5-1.5B)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56048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5B6070"/>
                </a:solidFill>
                <a:latin typeface="Calibri"/>
              </a:rPr>
              <a:t>no training at all, just our written category definitions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463040"/>
            <a:ext cx="5303520" cy="4572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60020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16181D"/>
                </a:solidFill>
                <a:latin typeface="Calibri"/>
              </a:rPr>
              <a:t>Arousal from audio: WavLM, partially fine-tuned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5532120"/>
            <a:ext cx="1828800" cy="219456"/>
          </a:xfrm>
          <a:prstGeom prst="rect">
            <a:avLst/>
          </a:prstGeom>
          <a:solidFill>
            <a:srgbClr val="A9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548640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5B6070"/>
                </a:solidFill>
                <a:latin typeface="Calibri"/>
              </a:rPr>
              <a:t>L1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5257800"/>
            <a:ext cx="1828800" cy="219456"/>
          </a:xfrm>
          <a:prstGeom prst="rect">
            <a:avLst/>
          </a:prstGeom>
          <a:solidFill>
            <a:srgbClr val="A9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521208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5B6070"/>
                </a:solidFill>
                <a:latin typeface="Calibri"/>
              </a:rPr>
              <a:t>L2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4983480"/>
            <a:ext cx="1828800" cy="219456"/>
          </a:xfrm>
          <a:prstGeom prst="rect">
            <a:avLst/>
          </a:prstGeom>
          <a:solidFill>
            <a:srgbClr val="A9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493776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5B6070"/>
                </a:solidFill>
                <a:latin typeface="Calibri"/>
              </a:rPr>
              <a:t>L3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4709160"/>
            <a:ext cx="1828800" cy="219456"/>
          </a:xfrm>
          <a:prstGeom prst="rect">
            <a:avLst/>
          </a:prstGeom>
          <a:solidFill>
            <a:srgbClr val="A9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466344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5B6070"/>
                </a:solidFill>
                <a:latin typeface="Calibri"/>
              </a:rPr>
              <a:t>L4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4434840"/>
            <a:ext cx="1828800" cy="219456"/>
          </a:xfrm>
          <a:prstGeom prst="rect">
            <a:avLst/>
          </a:prstGeom>
          <a:solidFill>
            <a:srgbClr val="A9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0" y="438912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5B6070"/>
                </a:solidFill>
                <a:latin typeface="Calibri"/>
              </a:rPr>
              <a:t>L5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4160520"/>
            <a:ext cx="1828800" cy="219456"/>
          </a:xfrm>
          <a:prstGeom prst="rect">
            <a:avLst/>
          </a:prstGeom>
          <a:solidFill>
            <a:srgbClr val="A9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0" y="411480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5B6070"/>
                </a:solidFill>
                <a:latin typeface="Calibri"/>
              </a:rPr>
              <a:t>L6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3886200"/>
            <a:ext cx="1828800" cy="21945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0" y="384048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5B6070"/>
                </a:solidFill>
                <a:latin typeface="Calibri"/>
              </a:rPr>
              <a:t>L7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3611879"/>
            <a:ext cx="1828800" cy="21945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0" y="3566159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5B6070"/>
                </a:solidFill>
                <a:latin typeface="Calibri"/>
              </a:rPr>
              <a:t>L8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3337560"/>
            <a:ext cx="1828800" cy="21945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0" y="329184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5B6070"/>
                </a:solidFill>
                <a:latin typeface="Calibri"/>
              </a:rPr>
              <a:t>L9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3063240"/>
            <a:ext cx="1828800" cy="21945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0" y="301752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5B6070"/>
                </a:solidFill>
                <a:latin typeface="Calibri"/>
              </a:rPr>
              <a:t>L10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75120" y="2788920"/>
            <a:ext cx="1828800" cy="21945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0" y="274320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5B6070"/>
                </a:solidFill>
                <a:latin typeface="Calibri"/>
              </a:rPr>
              <a:t>L11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75120" y="2514600"/>
            <a:ext cx="1828800" cy="21945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0" y="246888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5B6070"/>
                </a:solidFill>
                <a:latin typeface="Calibri"/>
              </a:rPr>
              <a:t>L12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4023360"/>
            <a:ext cx="23774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5B6070"/>
                </a:solidFill>
                <a:latin typeface="Calibri"/>
              </a:rPr>
              <a:t>Lower 6 layers frozen</a:t>
            </a:r>
          </a:p>
          <a:p>
            <a:pPr algn="l"/>
            <a:r>
              <a:rPr sz="1300" b="0" i="0">
                <a:solidFill>
                  <a:srgbClr val="16181D"/>
                </a:solidFill>
                <a:latin typeface="Calibri"/>
              </a:rPr>
              <a:t>they keep what it already knows about sound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2331720"/>
            <a:ext cx="23774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C8102E"/>
                </a:solidFill>
                <a:latin typeface="Calibri"/>
              </a:rPr>
              <a:t>Upper 6 layers trained</a:t>
            </a:r>
          </a:p>
          <a:p>
            <a:pPr algn="l"/>
            <a:r>
              <a:rPr sz="1300" b="0" i="0">
                <a:solidFill>
                  <a:srgbClr val="16181D"/>
                </a:solidFill>
                <a:latin typeface="Calibri"/>
              </a:rPr>
              <a:t>retrained on our data, with a learned weight per layer; out comes calm, raised or shouting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070"/>
                </a:solidFill>
                <a:latin typeface="Calibri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070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16181D"/>
                </a:solidFill>
                <a:latin typeface="Cambria"/>
              </a:rPr>
              <a:t>Checking the car, and testing it fairly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91056"/>
            <a:ext cx="3328416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16181D"/>
                </a:solidFill>
                <a:latin typeface="Calibri"/>
              </a:rPr>
              <a:t>Rule-based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011680"/>
            <a:ext cx="3328416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5B6070"/>
                </a:solidFill>
                <a:latin typeface="Calibri"/>
              </a:rPr>
              <a:t>Written before we labelled anything. For example, a tyre claim counts as backed up if laps were at least 0.3 s slower than expected.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4048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968496"/>
            <a:ext cx="3328416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16181D"/>
                </a:solidFill>
                <a:latin typeface="Calibri"/>
              </a:rPr>
              <a:t>Neural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389120"/>
            <a:ext cx="3328416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5B6070"/>
                </a:solidFill>
                <a:latin typeface="Calibri"/>
              </a:rPr>
              <a:t>A 1-D CNN reads the car data, and each claim type looks for its own evidence through gated attention. We compare it with simply joining the inputs.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6304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600200"/>
            <a:ext cx="31089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C8102E"/>
                </a:solidFill>
                <a:latin typeface="Calibri"/>
              </a:rPr>
              <a:t>Race-grouped splits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011680"/>
            <a:ext cx="310896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5B6070"/>
                </a:solidFill>
                <a:latin typeface="Calibri"/>
              </a:rPr>
              <a:t>a race is never in both training and testing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6304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2" y="1600200"/>
            <a:ext cx="31089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C8102E"/>
                </a:solidFill>
                <a:latin typeface="Calibri"/>
              </a:rPr>
              <a:t>Unseen drivers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2011680"/>
            <a:ext cx="310896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5B6070"/>
                </a:solidFill>
                <a:latin typeface="Calibri"/>
              </a:rPr>
              <a:t>we test on drivers the model never saw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2999232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2" y="3136392"/>
            <a:ext cx="31089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C8102E"/>
                </a:solidFill>
                <a:latin typeface="Calibri"/>
              </a:rPr>
              <a:t>Held-out season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3547872"/>
            <a:ext cx="310896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5B6070"/>
                </a:solidFill>
                <a:latin typeface="Calibri"/>
              </a:rPr>
              <a:t>train up to 2023, test on 2025 just once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2999232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2" y="3136392"/>
            <a:ext cx="31089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C8102E"/>
                </a:solidFill>
                <a:latin typeface="Calibri"/>
              </a:rPr>
              <a:t>Placebo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2" y="3547872"/>
            <a:ext cx="310896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5B6070"/>
                </a:solidFill>
                <a:latin typeface="Calibri"/>
              </a:rPr>
              <a:t>repeat every check three laps before the message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4535424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9432" y="4672584"/>
            <a:ext cx="31089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C8102E"/>
                </a:solidFill>
                <a:latin typeface="Calibri"/>
              </a:rPr>
              <a:t>Real chance level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5084064"/>
            <a:ext cx="310896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5B6070"/>
                </a:solidFill>
                <a:latin typeface="Calibri"/>
              </a:rPr>
              <a:t>we simulate random guessing instead of assuming 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4535424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2" y="4672584"/>
            <a:ext cx="31089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C8102E"/>
                </a:solidFill>
                <a:latin typeface="Calibri"/>
              </a:rPr>
              <a:t>Effect size first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2" y="5084064"/>
            <a:ext cx="310896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5B6070"/>
                </a:solidFill>
                <a:latin typeface="Calibri"/>
              </a:rPr>
              <a:t>we work out the smallest detectable effect first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9ADB8"/>
                </a:solidFill>
                <a:latin typeface="Calibri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27432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0" b="1" i="0">
                <a:solidFill>
                  <a:srgbClr val="C8102E"/>
                </a:solidFill>
                <a:latin typeface="Cambria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Problems faced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96012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A9ADB8"/>
                </a:solidFill>
                <a:latin typeface="Calibri"/>
              </a:rPr>
              <a:t>What went wrong along the way, and how we fixed each one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070"/>
                </a:solidFill>
                <a:latin typeface="Calibri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070"/>
                </a:solidFill>
                <a:latin typeface="Calibri"/>
              </a:rPr>
              <a:t>PROBLEMS FACED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16181D"/>
                </a:solidFill>
                <a:latin typeface="Cambria"/>
              </a:rPr>
              <a:t>Engineering problems → solutions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39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3749039"/>
                <a:gridCol w="3108960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Problem</a:t>
                      </a:r>
                    </a:p>
                  </a:txBody>
                  <a:tcPr marL="73152" marR="73152" marT="36576" marB="36576" anchor="ctr">
                    <a:solidFill>
                      <a:srgbClr val="1618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we did</a:t>
                      </a:r>
                    </a:p>
                  </a:txBody>
                  <a:tcPr marL="73152" marR="73152" marT="36576" marB="36576" anchor="ctr">
                    <a:solidFill>
                      <a:srgbClr val="1618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73152" marR="73152" marT="36576" marB="36576" anchor="ctr">
                    <a:solidFill>
                      <a:srgbClr val="16181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Speaker separation would have taken about 19 hours: the model needed 10.9 GB on our 8 GB GPU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We found the memory overflow and cut the batch size from 32 to 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Same output, about 49× faster than real time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The official telemetry API, OpenF1, has no data before 2023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We switched to FastF1, which reads the same feed for every season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Data for 148 of 149 races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Downloads were capped at 500 requests an hour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The script waits and retries on its own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It ran unattended overnight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The same “Thank you.” clip appeared in 204 different races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We removed every copy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No clip can leak between training and testing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Radio timestamps run late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We measured it: 82% of “box” calls are stamped after the car is in the pits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We match messages to laps, not exact seconds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We had no access to a paid LLM API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We ran an open model, Qwen2.5-1.5B, on our own GPU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That made the zero-shot LLM possible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070"/>
                </a:solidFill>
                <a:latin typeface="Calibri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070"/>
                </a:solidFill>
                <a:latin typeface="Calibri"/>
              </a:rPr>
              <a:t>PROBLEMS FACED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16181D"/>
                </a:solidFill>
                <a:latin typeface="Cambria"/>
              </a:rPr>
              <a:t>Research problems → solutions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658368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Problem</a:t>
                      </a:r>
                    </a:p>
                  </a:txBody>
                  <a:tcPr marL="73152" marR="73152" marT="36576" marB="36576" anchor="ctr">
                    <a:solidFill>
                      <a:srgbClr val="1618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we did</a:t>
                      </a:r>
                    </a:p>
                  </a:txBody>
                  <a:tcPr marL="73152" marR="73152" marT="36576" marB="36576" anchor="ctr">
                    <a:solidFill>
                      <a:srgbClr val="16181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Speaker identification only reached 67%, against a target of 85%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We reported it honestly, and trained every model only on messages a human confirmed were the driver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Only 317 verified driver messages, and some claim types were rare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We kept classes with at least 30 examples, and checked the result still holds at 20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The 2025 test season has just 37 items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Race-grouped cross-validation is our headline; 2025 is reported once as a check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Random guessing scores higher than you'd expect on small classes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We simulated the real chance level for every score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Data leakage could make scores look better than they are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Whole races stay in one fold, and 30 runs on shuffled labels scored exactly chance (0.499)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Training on our own rules would make the telemetry model circular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Instead, the neural model predicts the human label from the car data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Broadcasters choose the dramatic moments to air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81D"/>
                          </a:solidFill>
                          <a:latin typeface="Calibri"/>
                        </a:rPr>
                        <a:t>A placebo: we repeat every car check three laps before the message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9ADB8"/>
                </a:solidFill>
                <a:latin typeface="Calibri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27432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0" b="1" i="0">
                <a:solidFill>
                  <a:srgbClr val="C8102E"/>
                </a:solidFill>
                <a:latin typeface="Cambria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96012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A9ADB8"/>
                </a:solidFill>
                <a:latin typeface="Calibri"/>
              </a:rPr>
              <a:t>What worked, what didn't, and how sure we are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070"/>
                </a:solidFill>
                <a:latin typeface="Calibri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070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16181D"/>
                </a:solidFill>
                <a:latin typeface="Cambria"/>
              </a:rPr>
              <a:t>Speech: transcription and speaker identification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463040"/>
          <a:ext cx="512064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5720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16181D"/>
                </a:solidFill>
                <a:latin typeface="Calibri"/>
              </a:rPr>
              <a:t>The prompt only cut errors by about 3%, well short of our 15% target.</a:t>
            </a:r>
          </a:p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16181D"/>
                </a:solidFill>
                <a:latin typeface="Calibri"/>
              </a:rPr>
              <a:t>About 3 words in 10 are still wrong on radio audio.</a:t>
            </a:r>
          </a:p>
        </p:txBody>
      </p:sp>
      <p:pic>
        <p:nvPicPr>
          <p:cNvPr id="7" name="Picture 6" descr="fig1_at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463040"/>
            <a:ext cx="5852160" cy="26752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434340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16181D"/>
                </a:solidFill>
                <a:latin typeface="Calibri"/>
              </a:rPr>
              <a:t>Telling driver from engineer: 67% correct, below our 85% target.</a:t>
            </a:r>
          </a:p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16181D"/>
                </a:solidFill>
                <a:latin typeface="Calibri"/>
              </a:rPr>
              <a:t>The voice helps far more than the words do: 65% vs 39%.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070"/>
                </a:solidFill>
                <a:latin typeface="Calibri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070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16181D"/>
                </a:solidFill>
                <a:latin typeface="Cambria"/>
              </a:rPr>
              <a:t>Main result: text identifies what the driver claims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60350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623560"/>
            <a:ext cx="58521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5B6070"/>
                </a:solidFill>
                <a:latin typeface="Calibri"/>
              </a:rPr>
              <a:t>Chance level ≈ 0.21; race-grouped 5-fold cross-validation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66560" y="1463040"/>
          <a:ext cx="4846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05840"/>
                <a:gridCol w="1005840"/>
                <a:gridCol w="10058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 marL="73152" marR="73152" marT="36576" marB="36576" anchor="ctr">
                    <a:solidFill>
                      <a:srgbClr val="1618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DeBERTa</a:t>
                      </a:r>
                    </a:p>
                  </a:txBody>
                  <a:tcPr marL="73152" marR="73152" marT="36576" marB="36576" anchor="ctr">
                    <a:solidFill>
                      <a:srgbClr val="1618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TF-IDF</a:t>
                      </a:r>
                    </a:p>
                  </a:txBody>
                  <a:tcPr marL="73152" marR="73152" marT="36576" marB="36576" anchor="ctr">
                    <a:solidFill>
                      <a:srgbClr val="1618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Context</a:t>
                      </a:r>
                    </a:p>
                  </a:txBody>
                  <a:tcPr marL="73152" marR="73152" marT="36576" marB="36576" anchor="ctr">
                    <a:solidFill>
                      <a:srgbClr val="16181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6181D"/>
                          </a:solidFill>
                          <a:latin typeface="Calibri"/>
                        </a:rPr>
                        <a:t>Cross-validation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6181D"/>
                          </a:solidFill>
                          <a:latin typeface="Calibri"/>
                        </a:rPr>
                        <a:t>0.43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6181D"/>
                          </a:solidFill>
                          <a:latin typeface="Calibri"/>
                        </a:rPr>
                        <a:t>0.47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6181D"/>
                          </a:solidFill>
                          <a:latin typeface="Calibri"/>
                        </a:rPr>
                        <a:t>0.32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6181D"/>
                          </a:solidFill>
                          <a:latin typeface="Calibri"/>
                        </a:rPr>
                        <a:t>Test season 2025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6181D"/>
                          </a:solidFill>
                          <a:latin typeface="Calibri"/>
                        </a:rPr>
                        <a:t>0.47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6181D"/>
                          </a:solidFill>
                          <a:latin typeface="Calibri"/>
                        </a:rPr>
                        <a:t>0.39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6181D"/>
                          </a:solidFill>
                          <a:latin typeface="Calibri"/>
                        </a:rPr>
                        <a:t>0.28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6181D"/>
                          </a:solidFill>
                          <a:latin typeface="Calibri"/>
                        </a:rPr>
                        <a:t>Unseen drivers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6181D"/>
                          </a:solidFill>
                          <a:latin typeface="Calibri"/>
                        </a:rPr>
                        <a:t>0.48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6181D"/>
                          </a:solidFill>
                          <a:latin typeface="Calibri"/>
                        </a:rPr>
                        <a:t>0.45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6181D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66560" y="356616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500" b="1">
                <a:solidFill>
                  <a:srgbClr val="16181D"/>
                </a:solidFill>
                <a:latin typeface="Calibri"/>
              </a:rPr>
              <a:t>Reading the words helps: </a:t>
            </a:r>
            <a:r>
              <a:rPr sz="1500" b="0">
                <a:solidFill>
                  <a:srgbClr val="16181D"/>
                </a:solidFill>
                <a:latin typeface="Calibri"/>
              </a:rPr>
              <a:t>+0.11 over the context-only model (95% CI +0.04 to +0.18).</a:t>
            </a:r>
          </a:p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16181D"/>
                </a:solidFill>
                <a:latin typeface="Calibri"/>
              </a:rPr>
              <a:t>It holds on the unseen 2025 season, and on drivers the model never saw.</a:t>
            </a:r>
          </a:p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16181D"/>
                </a:solidFill>
                <a:latin typeface="Calibri"/>
              </a:rPr>
              <a:t>With this little data, DeBERTa and simple word counts do about equally well.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070"/>
                </a:solidFill>
                <a:latin typeface="Calibri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070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16181D"/>
                </a:solidFill>
                <a:latin typeface="Cambria"/>
              </a:rPr>
              <a:t>Surprise: a small LLM, told the rules, beats fine-tuning</a:t>
            </a:r>
          </a:p>
        </p:txBody>
      </p:sp>
      <p:pic>
        <p:nvPicPr>
          <p:cNvPr id="5" name="Picture 4" descr="fig9_lear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035040" cy="321868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1463040"/>
            <a:ext cx="2286000" cy="14630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572768"/>
            <a:ext cx="192024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C8102E"/>
                </a:solidFill>
                <a:latin typeface="Cambria"/>
              </a:rPr>
              <a:t>+0.20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2331720"/>
            <a:ext cx="19202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5B6070"/>
                </a:solidFill>
                <a:latin typeface="Calibri"/>
              </a:rPr>
              <a:t>LLM over fine-tuned DeBERTa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463040"/>
            <a:ext cx="2286000" cy="14630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0" y="1572768"/>
            <a:ext cx="192024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C8102E"/>
                </a:solidFill>
                <a:latin typeface="Cambria"/>
              </a:rPr>
              <a:t>+0.16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2331720"/>
            <a:ext cx="19202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5B6070"/>
                </a:solidFill>
                <a:latin typeface="Calibri"/>
              </a:rPr>
              <a:t>LLM over TF-IDF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20040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16181D"/>
                </a:solidFill>
                <a:latin typeface="Calibri"/>
              </a:rPr>
              <a:t>The LLM never saw a single labelled example, only our written category definitions.</a:t>
            </a:r>
          </a:p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16181D"/>
                </a:solidFill>
                <a:latin typeface="Calibri"/>
              </a:rPr>
              <a:t>With only about 250 examples, telling a model the rule works better than making it learn the rule.</a:t>
            </a:r>
          </a:p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16181D"/>
                </a:solidFill>
                <a:latin typeface="Calibri"/>
              </a:rPr>
              <a:t>The learning curve on the left: DeBERTa improves fastest as data grows, but flattens well below the LLM.</a:t>
            </a:r>
          </a:p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16181D"/>
                </a:solidFill>
                <a:latin typeface="Calibri"/>
              </a:rPr>
              <a:t>We wrote the prompt once and never tuned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070"/>
                </a:solidFill>
                <a:latin typeface="Calibri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070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16181D"/>
                </a:solidFill>
                <a:latin typeface="Cambria"/>
              </a:rPr>
              <a:t>Where the models go wrong</a:t>
            </a:r>
          </a:p>
        </p:txBody>
      </p:sp>
      <p:pic>
        <p:nvPicPr>
          <p:cNvPr id="5" name="Picture 4" descr="fig8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8229600" cy="36210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55448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16181D"/>
                </a:solidFill>
                <a:latin typeface="Calibri"/>
              </a:rPr>
              <a:t>When a driver describes an incident through another driver's behaviour, it gets read as a pace complaint.</a:t>
            </a:r>
          </a:p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16181D"/>
                </a:solidFill>
                <a:latin typeface="Calibri"/>
              </a:rPr>
              <a:t>Brake complaints, which we can't check, get mistaken for tyre complaints.</a:t>
            </a:r>
          </a:p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16181D"/>
                </a:solidFill>
                <a:latin typeface="Calibri"/>
              </a:rPr>
              <a:t>Some mistakes start earlier: “Enjoy one more tea guys” is a transcription error, not a model error.</a:t>
            </a:r>
          </a:p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16181D"/>
                </a:solidFill>
                <a:latin typeface="Calibri"/>
              </a:rPr>
              <a:t>TF-IDF is good at keywords like “contact” and “penalty”; DeBERTa is better on pace.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070"/>
                </a:solidFill>
                <a:latin typeface="Calibri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070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16181D"/>
                </a:solidFill>
                <a:latin typeface="Cambria"/>
              </a:rPr>
              <a:t>Arousal: you can hear it, and fine-tuning helps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60350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0" y="1371600"/>
          <a:ext cx="4754880" cy="2468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0" y="3977639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500" b="1">
                <a:solidFill>
                  <a:srgbClr val="16181D"/>
                </a:solidFill>
                <a:latin typeface="Calibri"/>
              </a:rPr>
              <a:t>Fine-tuning adds </a:t>
            </a:r>
            <a:r>
              <a:rPr sz="1500" b="0">
                <a:solidFill>
                  <a:srgbClr val="16181D"/>
                </a:solidFill>
                <a:latin typeface="Calibri"/>
              </a:rPr>
              <a:t>+0.11 over frozen WavLM (95% CI +0.03 to +0.19).</a:t>
            </a:r>
          </a:p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16181D"/>
                </a:solidFill>
                <a:latin typeface="Calibri"/>
              </a:rPr>
              <a:t>It still works on drivers it never heard: 0.51, against 0.34 for chance.</a:t>
            </a:r>
          </a:p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16181D"/>
                </a:solidFill>
                <a:latin typeface="Calibri"/>
              </a:rPr>
              <a:t>It leans slightly on the upper-middle layers, 10 and 11.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070"/>
                </a:solidFill>
                <a:latin typeface="Calibri"/>
              </a:rP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070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16181D"/>
                </a:solidFill>
                <a:latin typeface="Cambria"/>
              </a:rPr>
              <a:t>Does the car back up the claim? Not beyond chance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65836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0" y="15544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600"/>
              </a:spcAft>
              <a:buFont typeface="Arial"/>
              <a:buChar char="•"/>
            </a:pPr>
            <a:r>
              <a:rPr sz="1400" b="0">
                <a:solidFill>
                  <a:srgbClr val="16181D"/>
                </a:solidFill>
                <a:latin typeface="Calibri"/>
              </a:rPr>
              <a:t>How often the car's data “agrees” with a claim, compared with normal laps and with three laps earlier.</a:t>
            </a:r>
          </a:p>
          <a:p>
            <a:pPr marL="256032" indent="-256032">
              <a:spcAft>
                <a:spcPts val="600"/>
              </a:spcAft>
              <a:buFont typeface="Arial"/>
              <a:buChar char="•"/>
            </a:pPr>
            <a:r>
              <a:rPr sz="1400" b="0">
                <a:solidFill>
                  <a:srgbClr val="16181D"/>
                </a:solidFill>
                <a:latin typeface="Calibri"/>
              </a:rPr>
              <a:t>No claim type is backed up more often than usual; every confidence interval includes zero.</a:t>
            </a:r>
          </a:p>
          <a:p>
            <a:pPr marL="256032" indent="-256032">
              <a:spcAft>
                <a:spcPts val="600"/>
              </a:spcAft>
              <a:buFont typeface="Arial"/>
              <a:buChar char="•"/>
            </a:pPr>
            <a:r>
              <a:rPr sz="1400" b="0">
                <a:solidFill>
                  <a:srgbClr val="16181D"/>
                </a:solidFill>
                <a:latin typeface="Calibri"/>
              </a:rPr>
              <a:t>Incidents look twice as common at a claim, but they were just as common before the driver spoke.</a:t>
            </a:r>
          </a:p>
          <a:p>
            <a:pPr marL="256032" indent="-256032">
              <a:spcAft>
                <a:spcPts val="600"/>
              </a:spcAft>
              <a:buFont typeface="Arial"/>
              <a:buChar char="•"/>
            </a:pPr>
            <a:r>
              <a:rPr sz="1400" b="0">
                <a:solidFill>
                  <a:srgbClr val="16181D"/>
                </a:solidFill>
                <a:latin typeface="Calibri"/>
              </a:rPr>
              <a:t>The neural model agrees: 0.31, the same as its placebo (0.31) and the context-only model (0.29).</a:t>
            </a:r>
          </a:p>
          <a:p>
            <a:pPr marL="256032" indent="-256032">
              <a:spcAft>
                <a:spcPts val="600"/>
              </a:spcAft>
              <a:buFont typeface="Arial"/>
              <a:buChar char="•"/>
            </a:pPr>
            <a:r>
              <a:rPr sz="1400" b="1">
                <a:solidFill>
                  <a:srgbClr val="16181D"/>
                </a:solidFill>
                <a:latin typeface="Calibri"/>
              </a:rPr>
              <a:t>What's going on: </a:t>
            </a:r>
            <a:r>
              <a:rPr sz="1400" b="0">
                <a:solidFill>
                  <a:srgbClr val="16181D"/>
                </a:solidFill>
                <a:latin typeface="Calibri"/>
              </a:rPr>
              <a:t>TV airs radio at eventful moments, and the placebo caught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070"/>
                </a:solidFill>
                <a:latin typeface="Calibri"/>
              </a:rPr>
              <a:t>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070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16181D"/>
                </a:solidFill>
                <a:latin typeface="Cambria"/>
              </a:rPr>
              <a:t>Does a worked-up driver then drive differently?</a:t>
            </a:r>
          </a:p>
        </p:txBody>
      </p:sp>
      <p:pic>
        <p:nvPicPr>
          <p:cNvPr id="5" name="Picture 4" descr="fig7_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766560" cy="260995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554480"/>
            <a:ext cx="4023360" cy="14630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664208"/>
            <a:ext cx="365760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C8102E"/>
                </a:solidFill>
                <a:latin typeface="Cambria"/>
              </a:rPr>
              <a:t>±0.26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423160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5B6070"/>
                </a:solidFill>
                <a:latin typeface="Calibri"/>
              </a:rPr>
              <a:t>smallest effect per lap we could detect, computed before fitting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3291840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16181D"/>
                </a:solidFill>
                <a:latin typeface="Calibri"/>
              </a:rPr>
              <a:t>Going from calm to worked up changes lap time by +0.15 s (95% CI -0.02 to +0.31).</a:t>
            </a:r>
          </a:p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16181D"/>
                </a:solidFill>
                <a:latin typeface="Calibri"/>
              </a:rPr>
              <a:t>That isn't significant, and a check with our hand labels shows no effect either.</a:t>
            </a:r>
          </a:p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16181D"/>
                </a:solidFill>
                <a:latin typeface="Calibri"/>
              </a:rPr>
              <a:t>We also found no sign that some drivers react differently from others.</a:t>
            </a:r>
          </a:p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500" b="1">
                <a:solidFill>
                  <a:srgbClr val="16181D"/>
                </a:solidFill>
                <a:latin typeface="Calibri"/>
              </a:rPr>
              <a:t>In short: </a:t>
            </a:r>
            <a:r>
              <a:rPr sz="1500" b="0">
                <a:solidFill>
                  <a:srgbClr val="16181D"/>
                </a:solidFill>
                <a:latin typeface="Calibri"/>
              </a:rPr>
              <a:t>a clean null result, reported with its limits.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070"/>
                </a:solidFill>
                <a:latin typeface="Calibri"/>
              </a:rP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070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16181D"/>
                </a:solidFill>
                <a:latin typeface="Cambria"/>
              </a:rPr>
              <a:t>Results at a glance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6424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5852160"/>
                <a:gridCol w="173736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73152" marR="73152" marT="36576" marB="36576" anchor="ctr">
                    <a:solidFill>
                      <a:srgbClr val="1618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73152" marR="73152" marT="36576" marB="36576" anchor="ctr">
                    <a:solidFill>
                      <a:srgbClr val="1618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73152" marR="73152" marT="36576" marB="36576" anchor="ctr">
                    <a:solidFill>
                      <a:srgbClr val="16181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6181D"/>
                          </a:solidFill>
                          <a:latin typeface="Calibri"/>
                        </a:rPr>
                        <a:t>Claim type from text (T1)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6181D"/>
                          </a:solidFill>
                          <a:latin typeface="Calibri"/>
                        </a:rPr>
                        <a:t>DeBERTa 0.43 vs context 0.32; holds on unseen drivers and 2025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6181D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73152" marR="73152" marT="36576" marB="36576" anchor="ctr">
                    <a:solidFill>
                      <a:srgbClr val="E6F3E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6181D"/>
                          </a:solidFill>
                          <a:latin typeface="Calibri"/>
                        </a:rPr>
                        <a:t>Zero-shot LLM vs fine-tuning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6181D"/>
                          </a:solidFill>
                          <a:latin typeface="Calibri"/>
                        </a:rPr>
                        <a:t>LLM 0.63, +0.20 over DeBERTa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6181D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73152" marR="73152" marT="36576" marB="36576" anchor="ctr">
                    <a:solidFill>
                      <a:srgbClr val="E6F3E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6181D"/>
                          </a:solidFill>
                          <a:latin typeface="Calibri"/>
                        </a:rPr>
                        <a:t>Arousal from audio (T3)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6181D"/>
                          </a:solidFill>
                          <a:latin typeface="Calibri"/>
                        </a:rPr>
                        <a:t>WavLM fine-tuned 0.55, +0.11 over frozen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6181D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73152" marR="73152" marT="36576" marB="36576" anchor="ctr">
                    <a:solidFill>
                      <a:srgbClr val="E6F3E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6181D"/>
                          </a:solidFill>
                          <a:latin typeface="Calibri"/>
                        </a:rPr>
                        <a:t>Lap-time model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6181D"/>
                          </a:solidFill>
                          <a:latin typeface="Calibri"/>
                        </a:rPr>
                        <a:t>0.70 s error vs 1.12 s baseline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6181D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73152" marR="73152" marT="36576" marB="36576" anchor="ctr">
                    <a:solidFill>
                      <a:srgbClr val="E6F3E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6181D"/>
                          </a:solidFill>
                          <a:latin typeface="Calibri"/>
                        </a:rPr>
                        <a:t>ASR prompting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6181D"/>
                          </a:solidFill>
                          <a:latin typeface="Calibri"/>
                        </a:rPr>
                        <a:t>Only about a 3% gain, against a 15% target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6181D"/>
                          </a:solidFill>
                          <a:latin typeface="Calibri"/>
                        </a:rPr>
                        <a:t>Weak</a:t>
                      </a:r>
                    </a:p>
                  </a:txBody>
                  <a:tcPr marL="73152" marR="73152" marT="36576" marB="36576" anchor="ctr">
                    <a:solidFill>
                      <a:srgbClr val="FFF4D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6181D"/>
                          </a:solidFill>
                          <a:latin typeface="Calibri"/>
                        </a:rPr>
                        <a:t>Speaker identification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6181D"/>
                          </a:solidFill>
                          <a:latin typeface="Calibri"/>
                        </a:rPr>
                        <a:t>67% correct, against an 85% target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6181D"/>
                          </a:solidFill>
                          <a:latin typeface="Calibri"/>
                        </a:rPr>
                        <a:t>Failed gate</a:t>
                      </a:r>
                    </a:p>
                  </a:txBody>
                  <a:tcPr marL="73152" marR="73152" marT="36576" marB="36576" anchor="ctr">
                    <a:solidFill>
                      <a:srgbClr val="FBE9E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6181D"/>
                          </a:solidFill>
                          <a:latin typeface="Calibri"/>
                        </a:rPr>
                        <a:t>Telemetry agrees with claims (T2)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6181D"/>
                          </a:solidFill>
                          <a:latin typeface="Calibri"/>
                        </a:rPr>
                        <a:t>No better than normal laps, and the placebo scores the same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6181D"/>
                          </a:solidFill>
                          <a:latin typeface="Calibri"/>
                        </a:rPr>
                        <a:t>Null</a:t>
                      </a:r>
                    </a:p>
                  </a:txBody>
                  <a:tcPr marL="73152" marR="73152" marT="36576" marB="36576" anchor="ctr">
                    <a:solidFill>
                      <a:srgbClr val="FBE9E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6181D"/>
                          </a:solidFill>
                          <a:latin typeface="Calibri"/>
                        </a:rPr>
                        <a:t>Arousal → next laps (T4)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6181D"/>
                          </a:solidFill>
                          <a:latin typeface="Calibri"/>
                        </a:rPr>
                        <a:t>+0.15 s, smaller than the ±0.26 s we could detect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6181D"/>
                          </a:solidFill>
                          <a:latin typeface="Calibri"/>
                        </a:rPr>
                        <a:t>Null</a:t>
                      </a:r>
                    </a:p>
                  </a:txBody>
                  <a:tcPr marL="73152" marR="73152" marT="36576" marB="36576" anchor="ctr">
                    <a:solidFill>
                      <a:srgbClr val="FBE9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9ADB8"/>
                </a:solidFill>
                <a:latin typeface="Calibri"/>
              </a:rPr>
              <a:t>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27432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0" b="1" i="0">
                <a:solidFill>
                  <a:srgbClr val="C8102E"/>
                </a:solidFill>
                <a:latin typeface="Cambria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Limitations and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96012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A9ADB8"/>
                </a:solidFill>
                <a:latin typeface="Calibri"/>
              </a:rPr>
              <a:t>Being honest about the edges, and where to go next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070"/>
                </a:solidFill>
                <a:latin typeface="Calibri"/>
              </a:rPr>
              <a:t>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070"/>
                </a:solidFill>
                <a:latin typeface="Calibri"/>
              </a:rPr>
              <a:t>LIMITATIONS AND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16181D"/>
                </a:solidFill>
                <a:latin typeface="Cambria"/>
              </a:rPr>
              <a:t>Limitations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566160" cy="22402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6181D"/>
                </a:solidFill>
                <a:latin typeface="Calibri"/>
              </a:rPr>
              <a:t>One annotator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84248"/>
            <a:ext cx="3200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5B6070"/>
                </a:solidFill>
                <a:latin typeface="Calibri"/>
              </a:rPr>
              <a:t>One person labelled everything, so we can't measure agreement between labellers.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1D7A46"/>
                </a:solidFill>
                <a:latin typeface="Calibri"/>
              </a:rPr>
              <a:t>What we did: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checked consistency: 90% on repeats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417320"/>
            <a:ext cx="3566160" cy="22402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554480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6181D"/>
                </a:solidFill>
                <a:latin typeface="Calibri"/>
              </a:rPr>
              <a:t>Small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1984248"/>
            <a:ext cx="3200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5B6070"/>
                </a:solidFill>
                <a:latin typeface="Calibri"/>
              </a:rPr>
              <a:t>Just 317 driver messages, and only 37 in the 2025 test season.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926080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1D7A46"/>
                </a:solidFill>
                <a:latin typeface="Calibri"/>
              </a:rPr>
              <a:t>What we did: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confidence intervals everywhere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417320"/>
            <a:ext cx="3566160" cy="22402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9" y="1554480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6181D"/>
                </a:solidFill>
                <a:latin typeface="Calibri"/>
              </a:rPr>
              <a:t>Speaker step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1984248"/>
            <a:ext cx="3200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5B6070"/>
                </a:solidFill>
                <a:latin typeface="Calibri"/>
              </a:rPr>
              <a:t>Only 67% accurate, so unlabelled clips still hold some engineer speech.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2926080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1D7A46"/>
                </a:solidFill>
                <a:latin typeface="Calibri"/>
              </a:rPr>
              <a:t>What we did: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trained only on verified driver speech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40480"/>
            <a:ext cx="3566160" cy="22402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77640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6181D"/>
                </a:solidFill>
                <a:latin typeface="Calibri"/>
              </a:rPr>
              <a:t>Missing sensors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07408"/>
            <a:ext cx="3200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5B6070"/>
                </a:solidFill>
                <a:latin typeface="Calibri"/>
              </a:rPr>
              <a:t>Public data has no brake, tyre-temperature or steering readings.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49240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1D7A46"/>
                </a:solidFill>
                <a:latin typeface="Calibri"/>
              </a:rPr>
              <a:t>What we did: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a separate “can't be checked” class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79" y="3840480"/>
            <a:ext cx="3566160" cy="22402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3977640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6181D"/>
                </a:solidFill>
                <a:latin typeface="Calibri"/>
              </a:rPr>
              <a:t>Broadcast selection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4407408"/>
            <a:ext cx="3200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5B6070"/>
                </a:solidFill>
                <a:latin typeface="Calibri"/>
              </a:rPr>
              <a:t>TV producers choose which radio to air, so it isn't a random sample.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5349240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1D7A46"/>
                </a:solidFill>
                <a:latin typeface="Calibri"/>
              </a:rPr>
              <a:t>What we did: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the placebo control exposes 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9" y="3840480"/>
            <a:ext cx="3566160" cy="22402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9" y="3977640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6181D"/>
                </a:solidFill>
                <a:latin typeface="Calibri"/>
              </a:rPr>
              <a:t>Label influence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9" y="4407408"/>
            <a:ext cx="3200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5B6070"/>
                </a:solidFill>
                <a:latin typeface="Calibri"/>
              </a:rPr>
              <a:t>The labeller saw the transcripts, which may favour text-based arousal.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9" y="5349240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1D7A46"/>
                </a:solidFill>
                <a:latin typeface="Calibri"/>
              </a:rPr>
              <a:t>What we did: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audio-only model reported separately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070"/>
                </a:solidFill>
                <a:latin typeface="Calibri"/>
              </a:rPr>
              <a:t>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070"/>
                </a:solidFill>
                <a:latin typeface="Calibri"/>
              </a:rPr>
              <a:t>LIMITATIONS AND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16181D"/>
                </a:solidFill>
                <a:latin typeface="Cambria"/>
              </a:rPr>
              <a:t>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54864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C8102E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581912"/>
            <a:ext cx="4434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16181D"/>
                </a:solidFill>
                <a:latin typeface="Calibri"/>
              </a:rPr>
              <a:t>More and better labels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011680"/>
            <a:ext cx="443484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5B6070"/>
                </a:solidFill>
                <a:latin typeface="Calibri"/>
              </a:rPr>
              <a:t>A second annotator to measure agreement, and more examples of rare claims like power and traffic.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4864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C8102E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581912"/>
            <a:ext cx="4434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16181D"/>
                </a:solidFill>
                <a:latin typeface="Calibri"/>
              </a:rPr>
              <a:t>LLM-assisted labelling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011680"/>
            <a:ext cx="443484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5B6070"/>
                </a:solidFill>
                <a:latin typeface="Calibri"/>
              </a:rPr>
              <a:t>Let the LLM suggest labels and have people correct them: faster, and our results suggest it's accurate.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54680"/>
            <a:ext cx="54864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C8102E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82112"/>
            <a:ext cx="4434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16181D"/>
                </a:solidFill>
                <a:latin typeface="Calibri"/>
              </a:rPr>
              <a:t>Better speaker identification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611880"/>
            <a:ext cx="443484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5B6070"/>
                </a:solidFill>
                <a:latin typeface="Calibri"/>
              </a:rPr>
              <a:t>Train a proper driver-vs-engineer classifier on our hand-labelled turns.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01752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154680"/>
            <a:ext cx="54864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C8102E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182112"/>
            <a:ext cx="4434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16181D"/>
                </a:solidFill>
                <a:latin typeface="Calibri"/>
              </a:rPr>
              <a:t>Fine-tune speech recognition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611880"/>
            <a:ext cx="443484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5B6070"/>
                </a:solidFill>
                <a:latin typeface="Calibri"/>
              </a:rPr>
              <a:t>Fine-tune Whisper on hand-typed transcripts instead of only prompting 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1772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754880"/>
            <a:ext cx="54864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C8102E"/>
                </a:solidFill>
                <a:latin typeface="Cambr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782312"/>
            <a:ext cx="4434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16181D"/>
                </a:solidFill>
                <a:latin typeface="Calibri"/>
              </a:rPr>
              <a:t>Richer telemetry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212080"/>
            <a:ext cx="443484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5B6070"/>
                </a:solidFill>
                <a:latin typeface="Calibri"/>
              </a:rPr>
              <a:t>Teams' own data, like tyre temperatures and brake pressure, would make many more claims checkable.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61772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754880"/>
            <a:ext cx="54864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C8102E"/>
                </a:solidFill>
                <a:latin typeface="Cambria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782312"/>
            <a:ext cx="4434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16181D"/>
                </a:solidFill>
                <a:latin typeface="Calibri"/>
              </a:rPr>
              <a:t>Other domains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5212080"/>
            <a:ext cx="443484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5B6070"/>
                </a:solidFill>
                <a:latin typeface="Calibri"/>
              </a:rPr>
              <a:t>The same pipeline could work for aviation, emergency-services or industrial radio.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9ADB8"/>
                </a:solidFill>
                <a:latin typeface="Calibri"/>
              </a:rPr>
              <a:t>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27432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0" b="1" i="0">
                <a:solidFill>
                  <a:srgbClr val="C8102E"/>
                </a:solidFill>
                <a:latin typeface="Cambria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96012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A9ADB8"/>
                </a:solidFill>
                <a:latin typeface="Calibri"/>
              </a:rPr>
              <a:t>What we learned, in short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070"/>
                </a:solidFill>
                <a:latin typeface="Calibri"/>
              </a:rPr>
              <a:t>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070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16181D"/>
                </a:solidFill>
                <a:latin typeface="Cambria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1200"/>
              </a:spcAft>
              <a:buFont typeface="Arial"/>
              <a:buChar char="•"/>
            </a:pPr>
            <a:r>
              <a:rPr sz="1800" b="0">
                <a:solidFill>
                  <a:srgbClr val="16181D"/>
                </a:solidFill>
                <a:latin typeface="Calibri"/>
              </a:rPr>
              <a:t>We built a full pipeline on real F1 radio, from raw audio all the way to the car's data.</a:t>
            </a:r>
          </a:p>
          <a:p>
            <a:pPr marL="256032" indent="-256032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16181D"/>
                </a:solidFill>
                <a:latin typeface="Calibri"/>
              </a:rPr>
              <a:t>The words work: </a:t>
            </a:r>
            <a:r>
              <a:rPr sz="1800" b="0">
                <a:solidFill>
                  <a:srgbClr val="16181D"/>
                </a:solidFill>
                <a:latin typeface="Calibri"/>
              </a:rPr>
              <a:t>you can tell what a driver is claiming from what they say.</a:t>
            </a:r>
          </a:p>
          <a:p>
            <a:pPr marL="256032" indent="-256032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16181D"/>
                </a:solidFill>
                <a:latin typeface="Calibri"/>
              </a:rPr>
              <a:t>Rules beat a handful of labels: </a:t>
            </a:r>
            <a:r>
              <a:rPr sz="1800" b="0">
                <a:solidFill>
                  <a:srgbClr val="16181D"/>
                </a:solidFill>
                <a:latin typeface="Calibri"/>
              </a:rPr>
              <a:t>a small LLM given our definitions did better than fine-tuning.</a:t>
            </a:r>
          </a:p>
          <a:p>
            <a:pPr marL="256032" indent="-256032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16181D"/>
                </a:solidFill>
                <a:latin typeface="Calibri"/>
              </a:rPr>
              <a:t>You can hear arousal, </a:t>
            </a:r>
            <a:r>
              <a:rPr sz="1800" b="0">
                <a:solidFill>
                  <a:srgbClr val="16181D"/>
                </a:solidFill>
                <a:latin typeface="Calibri"/>
              </a:rPr>
              <a:t>and partially fine-tuning WavLM clearly helps.</a:t>
            </a:r>
          </a:p>
          <a:p>
            <a:pPr marL="256032" indent="-256032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16181D"/>
                </a:solidFill>
                <a:latin typeface="Calibri"/>
              </a:rPr>
              <a:t>The car rarely backs up a claim </a:t>
            </a:r>
            <a:r>
              <a:rPr sz="1800" b="0">
                <a:solidFill>
                  <a:srgbClr val="16181D"/>
                </a:solidFill>
                <a:latin typeface="Calibri"/>
              </a:rPr>
              <a:t>once you apply a placebo control.</a:t>
            </a:r>
          </a:p>
          <a:p>
            <a:pPr marL="256032" indent="-256032">
              <a:spcAft>
                <a:spcPts val="1200"/>
              </a:spcAft>
              <a:buFont typeface="Arial"/>
              <a:buChar char="•"/>
            </a:pPr>
            <a:r>
              <a:rPr sz="1800" b="0">
                <a:solidFill>
                  <a:srgbClr val="16181D"/>
                </a:solidFill>
                <a:latin typeface="Calibri"/>
              </a:rPr>
              <a:t>We report the negative results too; that's what makes the positive ones believable.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463040"/>
            <a:ext cx="4114800" cy="448056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691640"/>
            <a:ext cx="3657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C8102E"/>
                </a:solidFill>
                <a:latin typeface="Calibri"/>
              </a:rPr>
              <a:t>IN ONE SENTENCE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94560"/>
            <a:ext cx="356616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Cambria"/>
              </a:rPr>
              <a:t>Machines can understand what F1 drivers claim, best when simply told the rules, but public telemetry can't yet verify those claims.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070"/>
                </a:solidFill>
                <a:latin typeface="Calibri"/>
              </a:rPr>
              <a:t>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070"/>
                </a:solidFill>
                <a:latin typeface="Calibr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16181D"/>
                </a:solidFill>
                <a:latin typeface="Cambria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16181D"/>
                </a:solidFill>
                <a:latin typeface="Calibri"/>
              </a:rPr>
              <a:t>Bredin, H. (2023). pyannote.audio 2.1 speaker diarization pipeline. Interspeech.</a:t>
            </a:r>
          </a:p>
          <a:p>
            <a:pPr algn="l"/>
            <a:r>
              <a:rPr sz="1300" b="0" i="0">
                <a:solidFill>
                  <a:srgbClr val="16181D"/>
                </a:solidFill>
                <a:latin typeface="Calibri"/>
              </a:rPr>
              <a:t>Brown, T. et al. (2020). Language models are few-shot learners. NeurIPS.</a:t>
            </a:r>
          </a:p>
          <a:p>
            <a:pPr algn="l"/>
            <a:r>
              <a:rPr sz="1300" b="0" i="0">
                <a:solidFill>
                  <a:srgbClr val="16181D"/>
                </a:solidFill>
                <a:latin typeface="Calibri"/>
              </a:rPr>
              <a:t>Chen, S. et al. (2022). WavLM: large-scale self-supervised pre-training for full stack speech processing. IEEE JSTSP 16(6).</a:t>
            </a:r>
          </a:p>
          <a:p>
            <a:pPr algn="l"/>
            <a:r>
              <a:rPr sz="1300" b="0" i="0">
                <a:solidFill>
                  <a:srgbClr val="16181D"/>
                </a:solidFill>
                <a:latin typeface="Calibri"/>
              </a:rPr>
              <a:t>Ciletti, M. (2025). F1 Team Radio Dataset. Hugging Face: MikCil/f1-team-radio.</a:t>
            </a:r>
          </a:p>
          <a:p>
            <a:pPr algn="l"/>
            <a:r>
              <a:rPr sz="1300" b="0" i="0">
                <a:solidFill>
                  <a:srgbClr val="16181D"/>
                </a:solidFill>
                <a:latin typeface="Calibri"/>
              </a:rPr>
              <a:t>He, P., Gao, J., Chen, W. (2023). DeBERTaV3. ICLR.</a:t>
            </a:r>
          </a:p>
          <a:p>
            <a:pPr algn="l"/>
            <a:r>
              <a:rPr sz="1300" b="0" i="0">
                <a:solidFill>
                  <a:srgbClr val="16181D"/>
                </a:solidFill>
                <a:latin typeface="Calibri"/>
              </a:rPr>
              <a:t>Lee, S. et al. (2026). Rethinking multimodal fusion for time series: text modalities need constrained fusion. arXiv:2603.22372.</a:t>
            </a:r>
          </a:p>
          <a:p>
            <a:pPr algn="l"/>
            <a:r>
              <a:rPr sz="1300" b="0" i="0">
                <a:solidFill>
                  <a:srgbClr val="16181D"/>
                </a:solidFill>
                <a:latin typeface="Calibri"/>
              </a:rPr>
              <a:t>Nosek, B. et al. (2018). The preregistration revolution. PNAS 115(11).</a:t>
            </a:r>
          </a:p>
          <a:p>
            <a:pPr algn="l"/>
            <a:r>
              <a:rPr sz="1300" b="0" i="0">
                <a:solidFill>
                  <a:srgbClr val="16181D"/>
                </a:solidFill>
                <a:latin typeface="Calibri"/>
              </a:rPr>
              <a:t>Qwen Team (2024). Qwen2.5 technical report. arXiv:2412.15115.</a:t>
            </a:r>
          </a:p>
          <a:p>
            <a:pPr algn="l"/>
            <a:r>
              <a:rPr sz="1300" b="0" i="0">
                <a:solidFill>
                  <a:srgbClr val="16181D"/>
                </a:solidFill>
                <a:latin typeface="Calibri"/>
              </a:rPr>
              <a:t>Radford, A. et al. (2023). Robust speech recognition via large-scale weak supervision (Whisper). ICML.</a:t>
            </a:r>
          </a:p>
          <a:p>
            <a:pPr algn="l"/>
            <a:r>
              <a:rPr sz="1300" b="0" i="0">
                <a:solidFill>
                  <a:srgbClr val="16181D"/>
                </a:solidFill>
                <a:latin typeface="Calibri"/>
              </a:rPr>
              <a:t>Russell, J. A. (1980). A circumplex model of affect. J. Personality and Social Psychology 39(6).</a:t>
            </a:r>
          </a:p>
          <a:p>
            <a:pPr algn="l"/>
            <a:r>
              <a:rPr sz="1300" b="0" i="0">
                <a:solidFill>
                  <a:srgbClr val="16181D"/>
                </a:solidFill>
                <a:latin typeface="Calibri"/>
              </a:rPr>
              <a:t>Simmons, J., Nelson, L., Simonsohn, U. (2011). False-positive psychology. Psychological Science 22(11).</a:t>
            </a:r>
          </a:p>
          <a:p>
            <a:pPr algn="l"/>
            <a:r>
              <a:rPr sz="1300" b="0" i="0">
                <a:solidFill>
                  <a:srgbClr val="16181D"/>
                </a:solidFill>
                <a:latin typeface="Calibri"/>
              </a:rPr>
              <a:t>Thorne, J. et al. (2018). FEVER: a large-scale dataset for fact extraction and verification. NAACL-HLT.</a:t>
            </a:r>
          </a:p>
          <a:p>
            <a:pPr algn="l"/>
            <a:r>
              <a:rPr sz="1300" b="0" i="0">
                <a:solidFill>
                  <a:srgbClr val="16181D"/>
                </a:solidFill>
                <a:latin typeface="Calibri"/>
              </a:rPr>
              <a:t>Wang, H. et al. (2023). WeSpeaker. ICASSP.  ·  Yang, S. et al. (2021). SUPERB. Interspeech.  ·  FastF1 (software).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1">
                <a:solidFill>
                  <a:srgbClr val="5B6070"/>
                </a:solidFill>
                <a:latin typeface="Calibri"/>
              </a:rPr>
              <a:t>Full reference list (25 entries) in the IEEE paper; PDFs and links in references/README.md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9ADB8"/>
                </a:solidFill>
                <a:latin typeface="Calibri"/>
              </a:rPr>
              <a:t>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 i="0">
                <a:solidFill>
                  <a:srgbClr val="A9ADB8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A9ADB8"/>
                </a:solidFill>
                <a:latin typeface="Calibri"/>
              </a:rPr>
              <a:t>Live demo: one radio message through the whole system (hand-picked examples, for illustration)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